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78" r:id="rId9"/>
    <p:sldId id="275" r:id="rId10"/>
    <p:sldId id="279" r:id="rId11"/>
    <p:sldId id="280" r:id="rId12"/>
    <p:sldId id="281" r:id="rId13"/>
    <p:sldId id="282" r:id="rId14"/>
    <p:sldId id="284" r:id="rId15"/>
    <p:sldId id="285" r:id="rId16"/>
    <p:sldId id="276" r:id="rId17"/>
    <p:sldId id="289" r:id="rId1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677" y="-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35C0C-3A7A-4B80-9F06-5E96918C8001}" type="datetimeFigureOut">
              <a:rPr lang="en-US" smtClean="0"/>
              <a:t>2025-11-20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BDBC2-DDD7-40BA-9274-147794A11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7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0DF9E3-4EFD-4899-963E-D1FC729ABE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3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2025-11-20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2025-11-20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2025-11-20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2025-11-20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2025-11-20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2345" y="2429001"/>
            <a:ext cx="10227310" cy="3063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2025-11-20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7" y="0"/>
            <a:ext cx="12189460" cy="6858000"/>
            <a:chOff x="3047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7" y="0"/>
              <a:ext cx="12188951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6115" y="3351276"/>
              <a:ext cx="7981188" cy="766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8302" y="3324225"/>
              <a:ext cx="7979156" cy="7640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9759" y="4454652"/>
              <a:ext cx="6257544" cy="7604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3470" y="4427473"/>
              <a:ext cx="6253987" cy="7580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62288" y="5545835"/>
              <a:ext cx="2781300" cy="9646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34602" y="5518784"/>
              <a:ext cx="2778505" cy="9610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08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Total</a:t>
            </a:r>
            <a:r>
              <a:rPr spc="-10" dirty="0"/>
              <a:t> </a:t>
            </a:r>
            <a:r>
              <a:rPr spc="-20" dirty="0"/>
              <a:t>Productive</a:t>
            </a:r>
            <a:r>
              <a:rPr spc="-25" dirty="0"/>
              <a:t> </a:t>
            </a:r>
            <a:r>
              <a:rPr spc="-10" dirty="0"/>
              <a:t>Maintenance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164445" cy="37795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71120" indent="-22860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perawatan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melibatkan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semua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pihak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terdapat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dalam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suatu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perusahaan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untuk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dapat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saling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bekerja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sama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dalam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menghilangkan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break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down,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mengurangi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waktu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down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time,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memaksimalkan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utilitas,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kegiatan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produksi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serta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kualitas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dari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produk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dihasilkan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Sebuah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sistem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perawatan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preventif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untuk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memaksimalkan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kegunaan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peralatan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melibatkan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semua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departemen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fungsi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organisasi</a:t>
            </a:r>
            <a:endParaRPr sz="2800" dirty="0">
              <a:latin typeface="Calibri"/>
              <a:cs typeface="Calibri"/>
            </a:endParaRPr>
          </a:p>
          <a:p>
            <a:pPr marL="241300" marR="258445" indent="-228600">
              <a:lnSpc>
                <a:spcPts val="302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Dikenalkan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Jepang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oleh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Seichi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Nakajima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dikembangkan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dari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Preventive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Maintenance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dari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USA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5142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Perkembangan</a:t>
            </a:r>
            <a:r>
              <a:rPr spc="-85" dirty="0"/>
              <a:t> </a:t>
            </a:r>
            <a:r>
              <a:rPr spc="-5" dirty="0"/>
              <a:t>TPM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44623" y="1385316"/>
            <a:ext cx="8478520" cy="5297805"/>
            <a:chOff x="1944623" y="1385316"/>
            <a:chExt cx="8478520" cy="5297805"/>
          </a:xfrm>
        </p:grpSpPr>
        <p:sp>
          <p:nvSpPr>
            <p:cNvPr id="4" name="object 4"/>
            <p:cNvSpPr/>
            <p:nvPr/>
          </p:nvSpPr>
          <p:spPr>
            <a:xfrm>
              <a:off x="1944623" y="1385316"/>
              <a:ext cx="8478520" cy="5297805"/>
            </a:xfrm>
            <a:custGeom>
              <a:avLst/>
              <a:gdLst/>
              <a:ahLst/>
              <a:cxnLst/>
              <a:rect l="l" t="t" r="r" b="b"/>
              <a:pathLst>
                <a:path w="8478520" h="5297805">
                  <a:moveTo>
                    <a:pt x="7079107" y="0"/>
                  </a:moveTo>
                  <a:lnTo>
                    <a:pt x="7153656" y="662178"/>
                  </a:lnTo>
                  <a:lnTo>
                    <a:pt x="7028692" y="686589"/>
                  </a:lnTo>
                  <a:lnTo>
                    <a:pt x="6904763" y="711581"/>
                  </a:lnTo>
                  <a:lnTo>
                    <a:pt x="6781867" y="737153"/>
                  </a:lnTo>
                  <a:lnTo>
                    <a:pt x="6660006" y="763304"/>
                  </a:lnTo>
                  <a:lnTo>
                    <a:pt x="6539178" y="790036"/>
                  </a:lnTo>
                  <a:lnTo>
                    <a:pt x="6419384" y="817348"/>
                  </a:lnTo>
                  <a:lnTo>
                    <a:pt x="6300623" y="845240"/>
                  </a:lnTo>
                  <a:lnTo>
                    <a:pt x="6182897" y="873712"/>
                  </a:lnTo>
                  <a:lnTo>
                    <a:pt x="6066205" y="902764"/>
                  </a:lnTo>
                  <a:lnTo>
                    <a:pt x="5950546" y="932396"/>
                  </a:lnTo>
                  <a:lnTo>
                    <a:pt x="5835921" y="962608"/>
                  </a:lnTo>
                  <a:lnTo>
                    <a:pt x="5722330" y="993400"/>
                  </a:lnTo>
                  <a:lnTo>
                    <a:pt x="5609773" y="1024772"/>
                  </a:lnTo>
                  <a:lnTo>
                    <a:pt x="5498249" y="1056725"/>
                  </a:lnTo>
                  <a:lnTo>
                    <a:pt x="5387760" y="1089257"/>
                  </a:lnTo>
                  <a:lnTo>
                    <a:pt x="5278304" y="1122369"/>
                  </a:lnTo>
                  <a:lnTo>
                    <a:pt x="5169882" y="1156061"/>
                  </a:lnTo>
                  <a:lnTo>
                    <a:pt x="5062494" y="1190334"/>
                  </a:lnTo>
                  <a:lnTo>
                    <a:pt x="4956140" y="1225186"/>
                  </a:lnTo>
                  <a:lnTo>
                    <a:pt x="4850820" y="1260619"/>
                  </a:lnTo>
                  <a:lnTo>
                    <a:pt x="4746534" y="1296631"/>
                  </a:lnTo>
                  <a:lnTo>
                    <a:pt x="4643281" y="1333224"/>
                  </a:lnTo>
                  <a:lnTo>
                    <a:pt x="4541062" y="1370396"/>
                  </a:lnTo>
                  <a:lnTo>
                    <a:pt x="4439877" y="1408149"/>
                  </a:lnTo>
                  <a:lnTo>
                    <a:pt x="4339726" y="1446481"/>
                  </a:lnTo>
                  <a:lnTo>
                    <a:pt x="4240609" y="1485394"/>
                  </a:lnTo>
                  <a:lnTo>
                    <a:pt x="4142525" y="1524887"/>
                  </a:lnTo>
                  <a:lnTo>
                    <a:pt x="4045476" y="1564959"/>
                  </a:lnTo>
                  <a:lnTo>
                    <a:pt x="3949460" y="1605612"/>
                  </a:lnTo>
                  <a:lnTo>
                    <a:pt x="3854478" y="1646845"/>
                  </a:lnTo>
                  <a:lnTo>
                    <a:pt x="3760530" y="1688658"/>
                  </a:lnTo>
                  <a:lnTo>
                    <a:pt x="3667616" y="1731051"/>
                  </a:lnTo>
                  <a:lnTo>
                    <a:pt x="3575735" y="1774024"/>
                  </a:lnTo>
                  <a:lnTo>
                    <a:pt x="3484889" y="1817577"/>
                  </a:lnTo>
                  <a:lnTo>
                    <a:pt x="3395076" y="1861710"/>
                  </a:lnTo>
                  <a:lnTo>
                    <a:pt x="3306297" y="1906423"/>
                  </a:lnTo>
                  <a:lnTo>
                    <a:pt x="3218552" y="1951716"/>
                  </a:lnTo>
                  <a:lnTo>
                    <a:pt x="3131841" y="1997589"/>
                  </a:lnTo>
                  <a:lnTo>
                    <a:pt x="3046164" y="2044042"/>
                  </a:lnTo>
                  <a:lnTo>
                    <a:pt x="2961520" y="2091075"/>
                  </a:lnTo>
                  <a:lnTo>
                    <a:pt x="2877910" y="2138688"/>
                  </a:lnTo>
                  <a:lnTo>
                    <a:pt x="2836493" y="2162712"/>
                  </a:lnTo>
                  <a:lnTo>
                    <a:pt x="2795335" y="2186882"/>
                  </a:lnTo>
                  <a:lnTo>
                    <a:pt x="2754434" y="2211196"/>
                  </a:lnTo>
                  <a:lnTo>
                    <a:pt x="2713793" y="2235655"/>
                  </a:lnTo>
                  <a:lnTo>
                    <a:pt x="2673409" y="2260259"/>
                  </a:lnTo>
                  <a:lnTo>
                    <a:pt x="2633284" y="2285008"/>
                  </a:lnTo>
                  <a:lnTo>
                    <a:pt x="2593418" y="2309902"/>
                  </a:lnTo>
                  <a:lnTo>
                    <a:pt x="2553810" y="2334942"/>
                  </a:lnTo>
                  <a:lnTo>
                    <a:pt x="2514461" y="2360126"/>
                  </a:lnTo>
                  <a:lnTo>
                    <a:pt x="2475370" y="2385455"/>
                  </a:lnTo>
                  <a:lnTo>
                    <a:pt x="2436537" y="2410929"/>
                  </a:lnTo>
                  <a:lnTo>
                    <a:pt x="2397963" y="2436548"/>
                  </a:lnTo>
                  <a:lnTo>
                    <a:pt x="2359647" y="2462313"/>
                  </a:lnTo>
                  <a:lnTo>
                    <a:pt x="2321590" y="2488222"/>
                  </a:lnTo>
                  <a:lnTo>
                    <a:pt x="2283791" y="2514276"/>
                  </a:lnTo>
                  <a:lnTo>
                    <a:pt x="2246251" y="2540475"/>
                  </a:lnTo>
                  <a:lnTo>
                    <a:pt x="2208969" y="2566820"/>
                  </a:lnTo>
                  <a:lnTo>
                    <a:pt x="2171946" y="2593309"/>
                  </a:lnTo>
                  <a:lnTo>
                    <a:pt x="2135181" y="2619943"/>
                  </a:lnTo>
                  <a:lnTo>
                    <a:pt x="2098675" y="2646723"/>
                  </a:lnTo>
                  <a:lnTo>
                    <a:pt x="2062427" y="2673647"/>
                  </a:lnTo>
                  <a:lnTo>
                    <a:pt x="2026437" y="2700716"/>
                  </a:lnTo>
                  <a:lnTo>
                    <a:pt x="1990706" y="2727931"/>
                  </a:lnTo>
                  <a:lnTo>
                    <a:pt x="1955234" y="2755290"/>
                  </a:lnTo>
                  <a:lnTo>
                    <a:pt x="1920019" y="2782794"/>
                  </a:lnTo>
                  <a:lnTo>
                    <a:pt x="1885064" y="2810444"/>
                  </a:lnTo>
                  <a:lnTo>
                    <a:pt x="1850367" y="2838238"/>
                  </a:lnTo>
                  <a:lnTo>
                    <a:pt x="1815928" y="2866177"/>
                  </a:lnTo>
                  <a:lnTo>
                    <a:pt x="1781748" y="2894262"/>
                  </a:lnTo>
                  <a:lnTo>
                    <a:pt x="1747826" y="2922491"/>
                  </a:lnTo>
                  <a:lnTo>
                    <a:pt x="1714162" y="2950866"/>
                  </a:lnTo>
                  <a:lnTo>
                    <a:pt x="1680758" y="2979385"/>
                  </a:lnTo>
                  <a:lnTo>
                    <a:pt x="1647611" y="3008050"/>
                  </a:lnTo>
                  <a:lnTo>
                    <a:pt x="1614723" y="3036859"/>
                  </a:lnTo>
                  <a:lnTo>
                    <a:pt x="1582094" y="3065813"/>
                  </a:lnTo>
                  <a:lnTo>
                    <a:pt x="1549722" y="3094913"/>
                  </a:lnTo>
                  <a:lnTo>
                    <a:pt x="1517610" y="3124157"/>
                  </a:lnTo>
                  <a:lnTo>
                    <a:pt x="1485756" y="3153547"/>
                  </a:lnTo>
                  <a:lnTo>
                    <a:pt x="1454160" y="3183081"/>
                  </a:lnTo>
                  <a:lnTo>
                    <a:pt x="1422823" y="3212761"/>
                  </a:lnTo>
                  <a:lnTo>
                    <a:pt x="1391744" y="3242585"/>
                  </a:lnTo>
                  <a:lnTo>
                    <a:pt x="1360924" y="3272555"/>
                  </a:lnTo>
                  <a:lnTo>
                    <a:pt x="1330362" y="3302669"/>
                  </a:lnTo>
                  <a:lnTo>
                    <a:pt x="1300059" y="3332929"/>
                  </a:lnTo>
                  <a:lnTo>
                    <a:pt x="1270014" y="3363333"/>
                  </a:lnTo>
                  <a:lnTo>
                    <a:pt x="1240227" y="3393883"/>
                  </a:lnTo>
                  <a:lnTo>
                    <a:pt x="1210699" y="3424578"/>
                  </a:lnTo>
                  <a:lnTo>
                    <a:pt x="1181430" y="3455417"/>
                  </a:lnTo>
                  <a:lnTo>
                    <a:pt x="1152419" y="3486402"/>
                  </a:lnTo>
                  <a:lnTo>
                    <a:pt x="1123666" y="3517531"/>
                  </a:lnTo>
                  <a:lnTo>
                    <a:pt x="1095172" y="3548806"/>
                  </a:lnTo>
                  <a:lnTo>
                    <a:pt x="1066936" y="3580226"/>
                  </a:lnTo>
                  <a:lnTo>
                    <a:pt x="1038959" y="3611790"/>
                  </a:lnTo>
                  <a:lnTo>
                    <a:pt x="1011240" y="3643500"/>
                  </a:lnTo>
                  <a:lnTo>
                    <a:pt x="983780" y="3675354"/>
                  </a:lnTo>
                  <a:lnTo>
                    <a:pt x="956578" y="3707354"/>
                  </a:lnTo>
                  <a:lnTo>
                    <a:pt x="929634" y="3739499"/>
                  </a:lnTo>
                  <a:lnTo>
                    <a:pt x="902949" y="3771788"/>
                  </a:lnTo>
                  <a:lnTo>
                    <a:pt x="876523" y="3804223"/>
                  </a:lnTo>
                  <a:lnTo>
                    <a:pt x="850355" y="3836803"/>
                  </a:lnTo>
                  <a:lnTo>
                    <a:pt x="824445" y="3869528"/>
                  </a:lnTo>
                  <a:lnTo>
                    <a:pt x="798794" y="3902397"/>
                  </a:lnTo>
                  <a:lnTo>
                    <a:pt x="773402" y="3935412"/>
                  </a:lnTo>
                  <a:lnTo>
                    <a:pt x="748267" y="3968572"/>
                  </a:lnTo>
                  <a:lnTo>
                    <a:pt x="723392" y="4001876"/>
                  </a:lnTo>
                  <a:lnTo>
                    <a:pt x="698774" y="4035326"/>
                  </a:lnTo>
                  <a:lnTo>
                    <a:pt x="674416" y="4068921"/>
                  </a:lnTo>
                  <a:lnTo>
                    <a:pt x="650315" y="4102661"/>
                  </a:lnTo>
                  <a:lnTo>
                    <a:pt x="626473" y="4136546"/>
                  </a:lnTo>
                  <a:lnTo>
                    <a:pt x="602890" y="4170575"/>
                  </a:lnTo>
                  <a:lnTo>
                    <a:pt x="579565" y="4204750"/>
                  </a:lnTo>
                  <a:lnTo>
                    <a:pt x="556498" y="4239070"/>
                  </a:lnTo>
                  <a:lnTo>
                    <a:pt x="533690" y="4273535"/>
                  </a:lnTo>
                  <a:lnTo>
                    <a:pt x="511141" y="4308145"/>
                  </a:lnTo>
                  <a:lnTo>
                    <a:pt x="488850" y="4342899"/>
                  </a:lnTo>
                  <a:lnTo>
                    <a:pt x="466817" y="4377799"/>
                  </a:lnTo>
                  <a:lnTo>
                    <a:pt x="445043" y="4412844"/>
                  </a:lnTo>
                  <a:lnTo>
                    <a:pt x="423527" y="4448034"/>
                  </a:lnTo>
                  <a:lnTo>
                    <a:pt x="402270" y="4483369"/>
                  </a:lnTo>
                  <a:lnTo>
                    <a:pt x="381271" y="4518849"/>
                  </a:lnTo>
                  <a:lnTo>
                    <a:pt x="360530" y="4554474"/>
                  </a:lnTo>
                  <a:lnTo>
                    <a:pt x="340049" y="4590244"/>
                  </a:lnTo>
                  <a:lnTo>
                    <a:pt x="319825" y="4626158"/>
                  </a:lnTo>
                  <a:lnTo>
                    <a:pt x="299860" y="4662218"/>
                  </a:lnTo>
                  <a:lnTo>
                    <a:pt x="280154" y="4698423"/>
                  </a:lnTo>
                  <a:lnTo>
                    <a:pt x="260705" y="4734773"/>
                  </a:lnTo>
                  <a:lnTo>
                    <a:pt x="241516" y="4771268"/>
                  </a:lnTo>
                  <a:lnTo>
                    <a:pt x="222585" y="4807908"/>
                  </a:lnTo>
                  <a:lnTo>
                    <a:pt x="203912" y="4844693"/>
                  </a:lnTo>
                  <a:lnTo>
                    <a:pt x="185498" y="4881623"/>
                  </a:lnTo>
                  <a:lnTo>
                    <a:pt x="167342" y="4918698"/>
                  </a:lnTo>
                  <a:lnTo>
                    <a:pt x="149445" y="4955918"/>
                  </a:lnTo>
                  <a:lnTo>
                    <a:pt x="131806" y="4993283"/>
                  </a:lnTo>
                  <a:lnTo>
                    <a:pt x="114425" y="5030793"/>
                  </a:lnTo>
                  <a:lnTo>
                    <a:pt x="97303" y="5068448"/>
                  </a:lnTo>
                  <a:lnTo>
                    <a:pt x="80440" y="5106248"/>
                  </a:lnTo>
                  <a:lnTo>
                    <a:pt x="63835" y="5144193"/>
                  </a:lnTo>
                  <a:lnTo>
                    <a:pt x="47488" y="5182283"/>
                  </a:lnTo>
                  <a:lnTo>
                    <a:pt x="31400" y="5220518"/>
                  </a:lnTo>
                  <a:lnTo>
                    <a:pt x="15571" y="5258898"/>
                  </a:lnTo>
                  <a:lnTo>
                    <a:pt x="0" y="5297424"/>
                  </a:lnTo>
                  <a:lnTo>
                    <a:pt x="25340" y="5263349"/>
                  </a:lnTo>
                  <a:lnTo>
                    <a:pt x="50898" y="5229446"/>
                  </a:lnTo>
                  <a:lnTo>
                    <a:pt x="76673" y="5195716"/>
                  </a:lnTo>
                  <a:lnTo>
                    <a:pt x="102665" y="5162157"/>
                  </a:lnTo>
                  <a:lnTo>
                    <a:pt x="128874" y="5128771"/>
                  </a:lnTo>
                  <a:lnTo>
                    <a:pt x="155301" y="5095556"/>
                  </a:lnTo>
                  <a:lnTo>
                    <a:pt x="181944" y="5062514"/>
                  </a:lnTo>
                  <a:lnTo>
                    <a:pt x="208805" y="5029644"/>
                  </a:lnTo>
                  <a:lnTo>
                    <a:pt x="235882" y="4996945"/>
                  </a:lnTo>
                  <a:lnTo>
                    <a:pt x="263177" y="4964419"/>
                  </a:lnTo>
                  <a:lnTo>
                    <a:pt x="290689" y="4932065"/>
                  </a:lnTo>
                  <a:lnTo>
                    <a:pt x="318418" y="4899883"/>
                  </a:lnTo>
                  <a:lnTo>
                    <a:pt x="346364" y="4867873"/>
                  </a:lnTo>
                  <a:lnTo>
                    <a:pt x="374528" y="4836035"/>
                  </a:lnTo>
                  <a:lnTo>
                    <a:pt x="402908" y="4804369"/>
                  </a:lnTo>
                  <a:lnTo>
                    <a:pt x="431506" y="4772875"/>
                  </a:lnTo>
                  <a:lnTo>
                    <a:pt x="460320" y="4741554"/>
                  </a:lnTo>
                  <a:lnTo>
                    <a:pt x="489352" y="4710404"/>
                  </a:lnTo>
                  <a:lnTo>
                    <a:pt x="518601" y="4679426"/>
                  </a:lnTo>
                  <a:lnTo>
                    <a:pt x="548067" y="4648621"/>
                  </a:lnTo>
                  <a:lnTo>
                    <a:pt x="577750" y="4617987"/>
                  </a:lnTo>
                  <a:lnTo>
                    <a:pt x="607650" y="4587526"/>
                  </a:lnTo>
                  <a:lnTo>
                    <a:pt x="637768" y="4557237"/>
                  </a:lnTo>
                  <a:lnTo>
                    <a:pt x="668102" y="4527119"/>
                  </a:lnTo>
                  <a:lnTo>
                    <a:pt x="698654" y="4497174"/>
                  </a:lnTo>
                  <a:lnTo>
                    <a:pt x="729422" y="4467401"/>
                  </a:lnTo>
                  <a:lnTo>
                    <a:pt x="760408" y="4437800"/>
                  </a:lnTo>
                  <a:lnTo>
                    <a:pt x="791611" y="4408371"/>
                  </a:lnTo>
                  <a:lnTo>
                    <a:pt x="823031" y="4379114"/>
                  </a:lnTo>
                  <a:lnTo>
                    <a:pt x="854668" y="4350029"/>
                  </a:lnTo>
                  <a:lnTo>
                    <a:pt x="886523" y="4321116"/>
                  </a:lnTo>
                  <a:lnTo>
                    <a:pt x="918594" y="4292375"/>
                  </a:lnTo>
                  <a:lnTo>
                    <a:pt x="950882" y="4263806"/>
                  </a:lnTo>
                  <a:lnTo>
                    <a:pt x="983388" y="4235409"/>
                  </a:lnTo>
                  <a:lnTo>
                    <a:pt x="1016111" y="4207185"/>
                  </a:lnTo>
                  <a:lnTo>
                    <a:pt x="1049051" y="4179132"/>
                  </a:lnTo>
                  <a:lnTo>
                    <a:pt x="1082208" y="4151252"/>
                  </a:lnTo>
                  <a:lnTo>
                    <a:pt x="1115582" y="4123543"/>
                  </a:lnTo>
                  <a:lnTo>
                    <a:pt x="1149173" y="4096007"/>
                  </a:lnTo>
                  <a:lnTo>
                    <a:pt x="1182981" y="4068642"/>
                  </a:lnTo>
                  <a:lnTo>
                    <a:pt x="1217007" y="4041450"/>
                  </a:lnTo>
                  <a:lnTo>
                    <a:pt x="1251249" y="4014430"/>
                  </a:lnTo>
                  <a:lnTo>
                    <a:pt x="1285709" y="3987582"/>
                  </a:lnTo>
                  <a:lnTo>
                    <a:pt x="1320386" y="3960906"/>
                  </a:lnTo>
                  <a:lnTo>
                    <a:pt x="1355279" y="3934401"/>
                  </a:lnTo>
                  <a:lnTo>
                    <a:pt x="1390390" y="3908069"/>
                  </a:lnTo>
                  <a:lnTo>
                    <a:pt x="1425719" y="3881910"/>
                  </a:lnTo>
                  <a:lnTo>
                    <a:pt x="1461264" y="3855922"/>
                  </a:lnTo>
                  <a:lnTo>
                    <a:pt x="1497026" y="3830106"/>
                  </a:lnTo>
                  <a:lnTo>
                    <a:pt x="1533005" y="3804462"/>
                  </a:lnTo>
                  <a:lnTo>
                    <a:pt x="1569202" y="3778990"/>
                  </a:lnTo>
                  <a:lnTo>
                    <a:pt x="1605616" y="3753691"/>
                  </a:lnTo>
                  <a:lnTo>
                    <a:pt x="1642246" y="3728563"/>
                  </a:lnTo>
                  <a:lnTo>
                    <a:pt x="1679094" y="3703608"/>
                  </a:lnTo>
                  <a:lnTo>
                    <a:pt x="1716159" y="3678824"/>
                  </a:lnTo>
                  <a:lnTo>
                    <a:pt x="1753441" y="3654213"/>
                  </a:lnTo>
                  <a:lnTo>
                    <a:pt x="1790941" y="3629774"/>
                  </a:lnTo>
                  <a:lnTo>
                    <a:pt x="1828657" y="3605506"/>
                  </a:lnTo>
                  <a:lnTo>
                    <a:pt x="1866590" y="3581411"/>
                  </a:lnTo>
                  <a:lnTo>
                    <a:pt x="1904741" y="3557488"/>
                  </a:lnTo>
                  <a:lnTo>
                    <a:pt x="1943109" y="3533737"/>
                  </a:lnTo>
                  <a:lnTo>
                    <a:pt x="1981693" y="3510158"/>
                  </a:lnTo>
                  <a:lnTo>
                    <a:pt x="2020495" y="3486751"/>
                  </a:lnTo>
                  <a:lnTo>
                    <a:pt x="2059514" y="3463516"/>
                  </a:lnTo>
                  <a:lnTo>
                    <a:pt x="2098750" y="3440453"/>
                  </a:lnTo>
                  <a:lnTo>
                    <a:pt x="2138204" y="3417562"/>
                  </a:lnTo>
                  <a:lnTo>
                    <a:pt x="2177874" y="3394843"/>
                  </a:lnTo>
                  <a:lnTo>
                    <a:pt x="2217761" y="3372297"/>
                  </a:lnTo>
                  <a:lnTo>
                    <a:pt x="2257866" y="3349922"/>
                  </a:lnTo>
                  <a:lnTo>
                    <a:pt x="2298188" y="3327720"/>
                  </a:lnTo>
                  <a:lnTo>
                    <a:pt x="2338726" y="3305689"/>
                  </a:lnTo>
                  <a:lnTo>
                    <a:pt x="2379482" y="3283831"/>
                  </a:lnTo>
                  <a:lnTo>
                    <a:pt x="2461645" y="3240630"/>
                  </a:lnTo>
                  <a:lnTo>
                    <a:pt x="2544677" y="3198118"/>
                  </a:lnTo>
                  <a:lnTo>
                    <a:pt x="2628577" y="3156293"/>
                  </a:lnTo>
                  <a:lnTo>
                    <a:pt x="2713345" y="3115157"/>
                  </a:lnTo>
                  <a:lnTo>
                    <a:pt x="2798982" y="3074710"/>
                  </a:lnTo>
                  <a:lnTo>
                    <a:pt x="2885487" y="3034950"/>
                  </a:lnTo>
                  <a:lnTo>
                    <a:pt x="2972861" y="2995879"/>
                  </a:lnTo>
                  <a:lnTo>
                    <a:pt x="3061103" y="2957496"/>
                  </a:lnTo>
                  <a:lnTo>
                    <a:pt x="3150213" y="2919801"/>
                  </a:lnTo>
                  <a:lnTo>
                    <a:pt x="3240192" y="2882795"/>
                  </a:lnTo>
                  <a:lnTo>
                    <a:pt x="3331040" y="2846476"/>
                  </a:lnTo>
                  <a:lnTo>
                    <a:pt x="3422755" y="2810846"/>
                  </a:lnTo>
                  <a:lnTo>
                    <a:pt x="3515340" y="2775905"/>
                  </a:lnTo>
                  <a:lnTo>
                    <a:pt x="3608792" y="2741651"/>
                  </a:lnTo>
                  <a:lnTo>
                    <a:pt x="3703113" y="2708086"/>
                  </a:lnTo>
                  <a:lnTo>
                    <a:pt x="3798303" y="2675209"/>
                  </a:lnTo>
                  <a:lnTo>
                    <a:pt x="3894361" y="2643020"/>
                  </a:lnTo>
                  <a:lnTo>
                    <a:pt x="3991287" y="2611519"/>
                  </a:lnTo>
                  <a:lnTo>
                    <a:pt x="4089081" y="2580707"/>
                  </a:lnTo>
                  <a:lnTo>
                    <a:pt x="4187745" y="2550583"/>
                  </a:lnTo>
                  <a:lnTo>
                    <a:pt x="4287276" y="2521147"/>
                  </a:lnTo>
                  <a:lnTo>
                    <a:pt x="4387676" y="2492399"/>
                  </a:lnTo>
                  <a:lnTo>
                    <a:pt x="4488944" y="2464340"/>
                  </a:lnTo>
                  <a:lnTo>
                    <a:pt x="4591081" y="2436969"/>
                  </a:lnTo>
                  <a:lnTo>
                    <a:pt x="4694086" y="2410286"/>
                  </a:lnTo>
                  <a:lnTo>
                    <a:pt x="4797960" y="2384291"/>
                  </a:lnTo>
                  <a:lnTo>
                    <a:pt x="4902702" y="2358985"/>
                  </a:lnTo>
                  <a:lnTo>
                    <a:pt x="5008312" y="2334367"/>
                  </a:lnTo>
                  <a:lnTo>
                    <a:pt x="5114791" y="2310437"/>
                  </a:lnTo>
                  <a:lnTo>
                    <a:pt x="5222138" y="2287195"/>
                  </a:lnTo>
                  <a:lnTo>
                    <a:pt x="5330353" y="2264642"/>
                  </a:lnTo>
                  <a:lnTo>
                    <a:pt x="5439437" y="2242776"/>
                  </a:lnTo>
                  <a:lnTo>
                    <a:pt x="5549389" y="2221599"/>
                  </a:lnTo>
                  <a:lnTo>
                    <a:pt x="5660210" y="2201111"/>
                  </a:lnTo>
                  <a:lnTo>
                    <a:pt x="5771899" y="2181310"/>
                  </a:lnTo>
                  <a:lnTo>
                    <a:pt x="5884457" y="2162198"/>
                  </a:lnTo>
                  <a:lnTo>
                    <a:pt x="5997883" y="2143774"/>
                  </a:lnTo>
                  <a:lnTo>
                    <a:pt x="6112177" y="2126038"/>
                  </a:lnTo>
                  <a:lnTo>
                    <a:pt x="6227340" y="2108990"/>
                  </a:lnTo>
                  <a:lnTo>
                    <a:pt x="6343371" y="2092631"/>
                  </a:lnTo>
                  <a:lnTo>
                    <a:pt x="6460270" y="2076960"/>
                  </a:lnTo>
                  <a:lnTo>
                    <a:pt x="6578038" y="2061977"/>
                  </a:lnTo>
                  <a:lnTo>
                    <a:pt x="6696674" y="2047683"/>
                  </a:lnTo>
                  <a:lnTo>
                    <a:pt x="6816179" y="2034076"/>
                  </a:lnTo>
                  <a:lnTo>
                    <a:pt x="6936551" y="2021158"/>
                  </a:lnTo>
                  <a:lnTo>
                    <a:pt x="7057793" y="2008928"/>
                  </a:lnTo>
                  <a:lnTo>
                    <a:pt x="7179902" y="1997387"/>
                  </a:lnTo>
                  <a:lnTo>
                    <a:pt x="7302881" y="1986534"/>
                  </a:lnTo>
                  <a:lnTo>
                    <a:pt x="7377430" y="2648712"/>
                  </a:lnTo>
                  <a:lnTo>
                    <a:pt x="8478012" y="1059434"/>
                  </a:lnTo>
                  <a:lnTo>
                    <a:pt x="7079107" y="0"/>
                  </a:lnTo>
                  <a:close/>
                </a:path>
              </a:pathLst>
            </a:custGeom>
            <a:solidFill>
              <a:srgbClr val="F8D6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3679" y="5318760"/>
              <a:ext cx="207263" cy="2072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57472" y="4091939"/>
              <a:ext cx="338455" cy="340360"/>
            </a:xfrm>
            <a:custGeom>
              <a:avLst/>
              <a:gdLst/>
              <a:ahLst/>
              <a:cxnLst/>
              <a:rect l="l" t="t" r="r" b="b"/>
              <a:pathLst>
                <a:path w="338454" h="340360">
                  <a:moveTo>
                    <a:pt x="169163" y="0"/>
                  </a:moveTo>
                  <a:lnTo>
                    <a:pt x="124177" y="6069"/>
                  </a:lnTo>
                  <a:lnTo>
                    <a:pt x="83763" y="23198"/>
                  </a:lnTo>
                  <a:lnTo>
                    <a:pt x="49530" y="49768"/>
                  </a:lnTo>
                  <a:lnTo>
                    <a:pt x="23085" y="84158"/>
                  </a:lnTo>
                  <a:lnTo>
                    <a:pt x="6039" y="124751"/>
                  </a:lnTo>
                  <a:lnTo>
                    <a:pt x="0" y="169926"/>
                  </a:lnTo>
                  <a:lnTo>
                    <a:pt x="6039" y="215100"/>
                  </a:lnTo>
                  <a:lnTo>
                    <a:pt x="23085" y="255693"/>
                  </a:lnTo>
                  <a:lnTo>
                    <a:pt x="49530" y="290083"/>
                  </a:lnTo>
                  <a:lnTo>
                    <a:pt x="83763" y="316653"/>
                  </a:lnTo>
                  <a:lnTo>
                    <a:pt x="124177" y="333782"/>
                  </a:lnTo>
                  <a:lnTo>
                    <a:pt x="169163" y="339852"/>
                  </a:lnTo>
                  <a:lnTo>
                    <a:pt x="214150" y="333782"/>
                  </a:lnTo>
                  <a:lnTo>
                    <a:pt x="254564" y="316653"/>
                  </a:lnTo>
                  <a:lnTo>
                    <a:pt x="288797" y="290083"/>
                  </a:lnTo>
                  <a:lnTo>
                    <a:pt x="315242" y="255693"/>
                  </a:lnTo>
                  <a:lnTo>
                    <a:pt x="332288" y="215100"/>
                  </a:lnTo>
                  <a:lnTo>
                    <a:pt x="338327" y="169926"/>
                  </a:lnTo>
                  <a:lnTo>
                    <a:pt x="332288" y="124751"/>
                  </a:lnTo>
                  <a:lnTo>
                    <a:pt x="315242" y="84158"/>
                  </a:lnTo>
                  <a:lnTo>
                    <a:pt x="288797" y="49768"/>
                  </a:lnTo>
                  <a:lnTo>
                    <a:pt x="254564" y="23198"/>
                  </a:lnTo>
                  <a:lnTo>
                    <a:pt x="214150" y="6069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57472" y="4091939"/>
              <a:ext cx="338455" cy="340360"/>
            </a:xfrm>
            <a:custGeom>
              <a:avLst/>
              <a:gdLst/>
              <a:ahLst/>
              <a:cxnLst/>
              <a:rect l="l" t="t" r="r" b="b"/>
              <a:pathLst>
                <a:path w="338454" h="340360">
                  <a:moveTo>
                    <a:pt x="0" y="169926"/>
                  </a:moveTo>
                  <a:lnTo>
                    <a:pt x="6039" y="124751"/>
                  </a:lnTo>
                  <a:lnTo>
                    <a:pt x="23085" y="84158"/>
                  </a:lnTo>
                  <a:lnTo>
                    <a:pt x="49530" y="49768"/>
                  </a:lnTo>
                  <a:lnTo>
                    <a:pt x="83763" y="23198"/>
                  </a:lnTo>
                  <a:lnTo>
                    <a:pt x="124177" y="6069"/>
                  </a:lnTo>
                  <a:lnTo>
                    <a:pt x="169163" y="0"/>
                  </a:lnTo>
                  <a:lnTo>
                    <a:pt x="214150" y="6069"/>
                  </a:lnTo>
                  <a:lnTo>
                    <a:pt x="254564" y="23198"/>
                  </a:lnTo>
                  <a:lnTo>
                    <a:pt x="288797" y="49768"/>
                  </a:lnTo>
                  <a:lnTo>
                    <a:pt x="315242" y="84158"/>
                  </a:lnTo>
                  <a:lnTo>
                    <a:pt x="332288" y="124751"/>
                  </a:lnTo>
                  <a:lnTo>
                    <a:pt x="338327" y="169926"/>
                  </a:lnTo>
                  <a:lnTo>
                    <a:pt x="332288" y="215100"/>
                  </a:lnTo>
                  <a:lnTo>
                    <a:pt x="315242" y="255693"/>
                  </a:lnTo>
                  <a:lnTo>
                    <a:pt x="288797" y="290083"/>
                  </a:lnTo>
                  <a:lnTo>
                    <a:pt x="254564" y="316653"/>
                  </a:lnTo>
                  <a:lnTo>
                    <a:pt x="214150" y="333782"/>
                  </a:lnTo>
                  <a:lnTo>
                    <a:pt x="169163" y="339852"/>
                  </a:lnTo>
                  <a:lnTo>
                    <a:pt x="124177" y="333782"/>
                  </a:lnTo>
                  <a:lnTo>
                    <a:pt x="83763" y="316653"/>
                  </a:lnTo>
                  <a:lnTo>
                    <a:pt x="49530" y="290083"/>
                  </a:lnTo>
                  <a:lnTo>
                    <a:pt x="23085" y="255693"/>
                  </a:lnTo>
                  <a:lnTo>
                    <a:pt x="6039" y="215100"/>
                  </a:lnTo>
                  <a:lnTo>
                    <a:pt x="0" y="16992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74391" y="4205985"/>
            <a:ext cx="3035300" cy="17722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632585" marR="5080">
              <a:lnSpc>
                <a:spcPts val="2210"/>
              </a:lnSpc>
              <a:spcBef>
                <a:spcPts val="335"/>
              </a:spcBef>
            </a:pPr>
            <a:r>
              <a:rPr sz="2000" b="1" spc="-15" dirty="0">
                <a:latin typeface="Calibri"/>
                <a:cs typeface="Calibri"/>
              </a:rPr>
              <a:t>Preventive 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</a:t>
            </a:r>
            <a:r>
              <a:rPr sz="2000" b="1" spc="-10" dirty="0">
                <a:latin typeface="Calibri"/>
                <a:cs typeface="Calibri"/>
              </a:rPr>
              <a:t>i</a:t>
            </a:r>
            <a:r>
              <a:rPr sz="2000" b="1" spc="-20" dirty="0">
                <a:latin typeface="Calibri"/>
                <a:cs typeface="Calibri"/>
              </a:rPr>
              <a:t>n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-5" dirty="0">
                <a:latin typeface="Calibri"/>
                <a:cs typeface="Calibri"/>
              </a:rPr>
              <a:t>enance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ts val="2305"/>
              </a:lnSpc>
            </a:pPr>
            <a:r>
              <a:rPr sz="2000" b="1" spc="-10" dirty="0">
                <a:latin typeface="Calibri"/>
                <a:cs typeface="Calibri"/>
              </a:rPr>
              <a:t>Breakdown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05"/>
              </a:lnSpc>
            </a:pPr>
            <a:r>
              <a:rPr sz="2000" b="1" spc="-5" dirty="0">
                <a:latin typeface="Calibri"/>
                <a:cs typeface="Calibri"/>
              </a:rPr>
              <a:t>Maintenance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09817" y="3177285"/>
            <a:ext cx="462280" cy="462280"/>
            <a:chOff x="5909817" y="3177285"/>
            <a:chExt cx="462280" cy="462280"/>
          </a:xfrm>
        </p:grpSpPr>
        <p:sp>
          <p:nvSpPr>
            <p:cNvPr id="10" name="object 10"/>
            <p:cNvSpPr/>
            <p:nvPr/>
          </p:nvSpPr>
          <p:spPr>
            <a:xfrm>
              <a:off x="5916167" y="3183635"/>
              <a:ext cx="449580" cy="449580"/>
            </a:xfrm>
            <a:custGeom>
              <a:avLst/>
              <a:gdLst/>
              <a:ahLst/>
              <a:cxnLst/>
              <a:rect l="l" t="t" r="r" b="b"/>
              <a:pathLst>
                <a:path w="449579" h="449579">
                  <a:moveTo>
                    <a:pt x="224790" y="0"/>
                  </a:moveTo>
                  <a:lnTo>
                    <a:pt x="179470" y="4564"/>
                  </a:lnTo>
                  <a:lnTo>
                    <a:pt x="137267" y="17656"/>
                  </a:lnTo>
                  <a:lnTo>
                    <a:pt x="99082" y="38375"/>
                  </a:lnTo>
                  <a:lnTo>
                    <a:pt x="65817" y="65817"/>
                  </a:lnTo>
                  <a:lnTo>
                    <a:pt x="38375" y="99082"/>
                  </a:lnTo>
                  <a:lnTo>
                    <a:pt x="17656" y="137267"/>
                  </a:lnTo>
                  <a:lnTo>
                    <a:pt x="4564" y="179470"/>
                  </a:lnTo>
                  <a:lnTo>
                    <a:pt x="0" y="224789"/>
                  </a:lnTo>
                  <a:lnTo>
                    <a:pt x="4564" y="270109"/>
                  </a:lnTo>
                  <a:lnTo>
                    <a:pt x="17656" y="312312"/>
                  </a:lnTo>
                  <a:lnTo>
                    <a:pt x="38375" y="350497"/>
                  </a:lnTo>
                  <a:lnTo>
                    <a:pt x="65817" y="383762"/>
                  </a:lnTo>
                  <a:lnTo>
                    <a:pt x="99082" y="411204"/>
                  </a:lnTo>
                  <a:lnTo>
                    <a:pt x="137267" y="431923"/>
                  </a:lnTo>
                  <a:lnTo>
                    <a:pt x="179470" y="445015"/>
                  </a:lnTo>
                  <a:lnTo>
                    <a:pt x="224790" y="449580"/>
                  </a:lnTo>
                  <a:lnTo>
                    <a:pt x="270109" y="445015"/>
                  </a:lnTo>
                  <a:lnTo>
                    <a:pt x="312312" y="431923"/>
                  </a:lnTo>
                  <a:lnTo>
                    <a:pt x="350497" y="411204"/>
                  </a:lnTo>
                  <a:lnTo>
                    <a:pt x="383762" y="383762"/>
                  </a:lnTo>
                  <a:lnTo>
                    <a:pt x="411204" y="350497"/>
                  </a:lnTo>
                  <a:lnTo>
                    <a:pt x="431923" y="312312"/>
                  </a:lnTo>
                  <a:lnTo>
                    <a:pt x="445015" y="270109"/>
                  </a:lnTo>
                  <a:lnTo>
                    <a:pt x="449580" y="224789"/>
                  </a:lnTo>
                  <a:lnTo>
                    <a:pt x="445015" y="179470"/>
                  </a:lnTo>
                  <a:lnTo>
                    <a:pt x="431923" y="137267"/>
                  </a:lnTo>
                  <a:lnTo>
                    <a:pt x="411204" y="99082"/>
                  </a:lnTo>
                  <a:lnTo>
                    <a:pt x="383762" y="65817"/>
                  </a:lnTo>
                  <a:lnTo>
                    <a:pt x="350497" y="38375"/>
                  </a:lnTo>
                  <a:lnTo>
                    <a:pt x="312312" y="17656"/>
                  </a:lnTo>
                  <a:lnTo>
                    <a:pt x="270109" y="4564"/>
                  </a:lnTo>
                  <a:lnTo>
                    <a:pt x="2247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16167" y="3183635"/>
              <a:ext cx="449580" cy="449580"/>
            </a:xfrm>
            <a:custGeom>
              <a:avLst/>
              <a:gdLst/>
              <a:ahLst/>
              <a:cxnLst/>
              <a:rect l="l" t="t" r="r" b="b"/>
              <a:pathLst>
                <a:path w="449579" h="449579">
                  <a:moveTo>
                    <a:pt x="0" y="224789"/>
                  </a:moveTo>
                  <a:lnTo>
                    <a:pt x="4564" y="179470"/>
                  </a:lnTo>
                  <a:lnTo>
                    <a:pt x="17656" y="137267"/>
                  </a:lnTo>
                  <a:lnTo>
                    <a:pt x="38375" y="99082"/>
                  </a:lnTo>
                  <a:lnTo>
                    <a:pt x="65817" y="65817"/>
                  </a:lnTo>
                  <a:lnTo>
                    <a:pt x="99082" y="38375"/>
                  </a:lnTo>
                  <a:lnTo>
                    <a:pt x="137267" y="17656"/>
                  </a:lnTo>
                  <a:lnTo>
                    <a:pt x="179470" y="4564"/>
                  </a:lnTo>
                  <a:lnTo>
                    <a:pt x="224790" y="0"/>
                  </a:lnTo>
                  <a:lnTo>
                    <a:pt x="270109" y="4564"/>
                  </a:lnTo>
                  <a:lnTo>
                    <a:pt x="312312" y="17656"/>
                  </a:lnTo>
                  <a:lnTo>
                    <a:pt x="350497" y="38375"/>
                  </a:lnTo>
                  <a:lnTo>
                    <a:pt x="383762" y="65817"/>
                  </a:lnTo>
                  <a:lnTo>
                    <a:pt x="411204" y="99082"/>
                  </a:lnTo>
                  <a:lnTo>
                    <a:pt x="431923" y="137267"/>
                  </a:lnTo>
                  <a:lnTo>
                    <a:pt x="445015" y="179470"/>
                  </a:lnTo>
                  <a:lnTo>
                    <a:pt x="449580" y="224789"/>
                  </a:lnTo>
                  <a:lnTo>
                    <a:pt x="445015" y="270109"/>
                  </a:lnTo>
                  <a:lnTo>
                    <a:pt x="431923" y="312312"/>
                  </a:lnTo>
                  <a:lnTo>
                    <a:pt x="411204" y="350497"/>
                  </a:lnTo>
                  <a:lnTo>
                    <a:pt x="383762" y="383762"/>
                  </a:lnTo>
                  <a:lnTo>
                    <a:pt x="350497" y="411204"/>
                  </a:lnTo>
                  <a:lnTo>
                    <a:pt x="312312" y="431923"/>
                  </a:lnTo>
                  <a:lnTo>
                    <a:pt x="270109" y="445015"/>
                  </a:lnTo>
                  <a:lnTo>
                    <a:pt x="224790" y="449580"/>
                  </a:lnTo>
                  <a:lnTo>
                    <a:pt x="179470" y="445015"/>
                  </a:lnTo>
                  <a:lnTo>
                    <a:pt x="137267" y="431923"/>
                  </a:lnTo>
                  <a:lnTo>
                    <a:pt x="99082" y="411204"/>
                  </a:lnTo>
                  <a:lnTo>
                    <a:pt x="65817" y="383762"/>
                  </a:lnTo>
                  <a:lnTo>
                    <a:pt x="38375" y="350497"/>
                  </a:lnTo>
                  <a:lnTo>
                    <a:pt x="17656" y="312312"/>
                  </a:lnTo>
                  <a:lnTo>
                    <a:pt x="4564" y="270109"/>
                  </a:lnTo>
                  <a:lnTo>
                    <a:pt x="0" y="22478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67017" y="3352927"/>
            <a:ext cx="141541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b="1" spc="-10" dirty="0">
                <a:latin typeface="Calibri"/>
                <a:cs typeface="Calibri"/>
              </a:rPr>
              <a:t>Productive 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</a:t>
            </a:r>
            <a:r>
              <a:rPr sz="2000" b="1" spc="-10" dirty="0">
                <a:latin typeface="Calibri"/>
                <a:cs typeface="Calibri"/>
              </a:rPr>
              <a:t>i</a:t>
            </a:r>
            <a:r>
              <a:rPr sz="2000" b="1" spc="-20" dirty="0">
                <a:latin typeface="Calibri"/>
                <a:cs typeface="Calibri"/>
              </a:rPr>
              <a:t>n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-5" dirty="0">
                <a:latin typeface="Calibri"/>
                <a:cs typeface="Calibri"/>
              </a:rPr>
              <a:t>enance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825740" y="2577083"/>
            <a:ext cx="614680" cy="614680"/>
            <a:chOff x="7825740" y="2577083"/>
            <a:chExt cx="614680" cy="614680"/>
          </a:xfrm>
        </p:grpSpPr>
        <p:sp>
          <p:nvSpPr>
            <p:cNvPr id="14" name="object 14"/>
            <p:cNvSpPr/>
            <p:nvPr/>
          </p:nvSpPr>
          <p:spPr>
            <a:xfrm>
              <a:off x="7831836" y="2583179"/>
              <a:ext cx="601980" cy="601980"/>
            </a:xfrm>
            <a:custGeom>
              <a:avLst/>
              <a:gdLst/>
              <a:ahLst/>
              <a:cxnLst/>
              <a:rect l="l" t="t" r="r" b="b"/>
              <a:pathLst>
                <a:path w="601979" h="601980">
                  <a:moveTo>
                    <a:pt x="300990" y="0"/>
                  </a:moveTo>
                  <a:lnTo>
                    <a:pt x="252165" y="3939"/>
                  </a:lnTo>
                  <a:lnTo>
                    <a:pt x="205849" y="15343"/>
                  </a:lnTo>
                  <a:lnTo>
                    <a:pt x="162662" y="33593"/>
                  </a:lnTo>
                  <a:lnTo>
                    <a:pt x="123224" y="58070"/>
                  </a:lnTo>
                  <a:lnTo>
                    <a:pt x="88153" y="88153"/>
                  </a:lnTo>
                  <a:lnTo>
                    <a:pt x="58070" y="123224"/>
                  </a:lnTo>
                  <a:lnTo>
                    <a:pt x="33593" y="162662"/>
                  </a:lnTo>
                  <a:lnTo>
                    <a:pt x="15343" y="205849"/>
                  </a:lnTo>
                  <a:lnTo>
                    <a:pt x="3939" y="252165"/>
                  </a:lnTo>
                  <a:lnTo>
                    <a:pt x="0" y="300990"/>
                  </a:lnTo>
                  <a:lnTo>
                    <a:pt x="3939" y="349814"/>
                  </a:lnTo>
                  <a:lnTo>
                    <a:pt x="15343" y="396130"/>
                  </a:lnTo>
                  <a:lnTo>
                    <a:pt x="33593" y="439317"/>
                  </a:lnTo>
                  <a:lnTo>
                    <a:pt x="58070" y="478755"/>
                  </a:lnTo>
                  <a:lnTo>
                    <a:pt x="88153" y="513826"/>
                  </a:lnTo>
                  <a:lnTo>
                    <a:pt x="123224" y="543909"/>
                  </a:lnTo>
                  <a:lnTo>
                    <a:pt x="162662" y="568386"/>
                  </a:lnTo>
                  <a:lnTo>
                    <a:pt x="205849" y="586636"/>
                  </a:lnTo>
                  <a:lnTo>
                    <a:pt x="252165" y="598040"/>
                  </a:lnTo>
                  <a:lnTo>
                    <a:pt x="300990" y="601980"/>
                  </a:lnTo>
                  <a:lnTo>
                    <a:pt x="349814" y="598040"/>
                  </a:lnTo>
                  <a:lnTo>
                    <a:pt x="396130" y="586636"/>
                  </a:lnTo>
                  <a:lnTo>
                    <a:pt x="439317" y="568386"/>
                  </a:lnTo>
                  <a:lnTo>
                    <a:pt x="478755" y="543909"/>
                  </a:lnTo>
                  <a:lnTo>
                    <a:pt x="513826" y="513826"/>
                  </a:lnTo>
                  <a:lnTo>
                    <a:pt x="543909" y="478755"/>
                  </a:lnTo>
                  <a:lnTo>
                    <a:pt x="568386" y="439317"/>
                  </a:lnTo>
                  <a:lnTo>
                    <a:pt x="586636" y="396130"/>
                  </a:lnTo>
                  <a:lnTo>
                    <a:pt x="598040" y="349814"/>
                  </a:lnTo>
                  <a:lnTo>
                    <a:pt x="601980" y="300990"/>
                  </a:lnTo>
                  <a:lnTo>
                    <a:pt x="598040" y="252165"/>
                  </a:lnTo>
                  <a:lnTo>
                    <a:pt x="586636" y="205849"/>
                  </a:lnTo>
                  <a:lnTo>
                    <a:pt x="568386" y="162662"/>
                  </a:lnTo>
                  <a:lnTo>
                    <a:pt x="543909" y="123224"/>
                  </a:lnTo>
                  <a:lnTo>
                    <a:pt x="513826" y="88153"/>
                  </a:lnTo>
                  <a:lnTo>
                    <a:pt x="478755" y="58070"/>
                  </a:lnTo>
                  <a:lnTo>
                    <a:pt x="439317" y="33593"/>
                  </a:lnTo>
                  <a:lnTo>
                    <a:pt x="396130" y="15343"/>
                  </a:lnTo>
                  <a:lnTo>
                    <a:pt x="349814" y="3939"/>
                  </a:lnTo>
                  <a:lnTo>
                    <a:pt x="30099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31836" y="2583179"/>
              <a:ext cx="601980" cy="601980"/>
            </a:xfrm>
            <a:custGeom>
              <a:avLst/>
              <a:gdLst/>
              <a:ahLst/>
              <a:cxnLst/>
              <a:rect l="l" t="t" r="r" b="b"/>
              <a:pathLst>
                <a:path w="601979" h="601980">
                  <a:moveTo>
                    <a:pt x="0" y="300990"/>
                  </a:moveTo>
                  <a:lnTo>
                    <a:pt x="3939" y="252165"/>
                  </a:lnTo>
                  <a:lnTo>
                    <a:pt x="15343" y="205849"/>
                  </a:lnTo>
                  <a:lnTo>
                    <a:pt x="33593" y="162662"/>
                  </a:lnTo>
                  <a:lnTo>
                    <a:pt x="58070" y="123224"/>
                  </a:lnTo>
                  <a:lnTo>
                    <a:pt x="88153" y="88153"/>
                  </a:lnTo>
                  <a:lnTo>
                    <a:pt x="123224" y="58070"/>
                  </a:lnTo>
                  <a:lnTo>
                    <a:pt x="162662" y="33593"/>
                  </a:lnTo>
                  <a:lnTo>
                    <a:pt x="205849" y="15343"/>
                  </a:lnTo>
                  <a:lnTo>
                    <a:pt x="252165" y="3939"/>
                  </a:lnTo>
                  <a:lnTo>
                    <a:pt x="300990" y="0"/>
                  </a:lnTo>
                  <a:lnTo>
                    <a:pt x="349814" y="3939"/>
                  </a:lnTo>
                  <a:lnTo>
                    <a:pt x="396130" y="15343"/>
                  </a:lnTo>
                  <a:lnTo>
                    <a:pt x="439317" y="33593"/>
                  </a:lnTo>
                  <a:lnTo>
                    <a:pt x="478755" y="58070"/>
                  </a:lnTo>
                  <a:lnTo>
                    <a:pt x="513826" y="88153"/>
                  </a:lnTo>
                  <a:lnTo>
                    <a:pt x="543909" y="123224"/>
                  </a:lnTo>
                  <a:lnTo>
                    <a:pt x="568386" y="162662"/>
                  </a:lnTo>
                  <a:lnTo>
                    <a:pt x="586636" y="205849"/>
                  </a:lnTo>
                  <a:lnTo>
                    <a:pt x="598040" y="252165"/>
                  </a:lnTo>
                  <a:lnTo>
                    <a:pt x="601980" y="300990"/>
                  </a:lnTo>
                  <a:lnTo>
                    <a:pt x="598040" y="349814"/>
                  </a:lnTo>
                  <a:lnTo>
                    <a:pt x="586636" y="396130"/>
                  </a:lnTo>
                  <a:lnTo>
                    <a:pt x="568386" y="439317"/>
                  </a:lnTo>
                  <a:lnTo>
                    <a:pt x="543909" y="478755"/>
                  </a:lnTo>
                  <a:lnTo>
                    <a:pt x="513826" y="513826"/>
                  </a:lnTo>
                  <a:lnTo>
                    <a:pt x="478755" y="543909"/>
                  </a:lnTo>
                  <a:lnTo>
                    <a:pt x="439317" y="568386"/>
                  </a:lnTo>
                  <a:lnTo>
                    <a:pt x="396130" y="586636"/>
                  </a:lnTo>
                  <a:lnTo>
                    <a:pt x="349814" y="598040"/>
                  </a:lnTo>
                  <a:lnTo>
                    <a:pt x="300990" y="601980"/>
                  </a:lnTo>
                  <a:lnTo>
                    <a:pt x="252165" y="598040"/>
                  </a:lnTo>
                  <a:lnTo>
                    <a:pt x="205849" y="586636"/>
                  </a:lnTo>
                  <a:lnTo>
                    <a:pt x="162662" y="568386"/>
                  </a:lnTo>
                  <a:lnTo>
                    <a:pt x="123224" y="543909"/>
                  </a:lnTo>
                  <a:lnTo>
                    <a:pt x="88153" y="513826"/>
                  </a:lnTo>
                  <a:lnTo>
                    <a:pt x="58070" y="478755"/>
                  </a:lnTo>
                  <a:lnTo>
                    <a:pt x="33593" y="439317"/>
                  </a:lnTo>
                  <a:lnTo>
                    <a:pt x="15343" y="396130"/>
                  </a:lnTo>
                  <a:lnTo>
                    <a:pt x="3939" y="349814"/>
                  </a:lnTo>
                  <a:lnTo>
                    <a:pt x="0" y="30099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40293" y="2828289"/>
            <a:ext cx="1415415" cy="890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b="1" spc="-40" dirty="0">
                <a:latin typeface="Calibri"/>
                <a:cs typeface="Calibri"/>
              </a:rPr>
              <a:t>Total 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Productive 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</a:t>
            </a:r>
            <a:r>
              <a:rPr sz="2000" b="1" spc="-10" dirty="0">
                <a:latin typeface="Calibri"/>
                <a:cs typeface="Calibri"/>
              </a:rPr>
              <a:t>i</a:t>
            </a:r>
            <a:r>
              <a:rPr sz="2000" b="1" spc="-20" dirty="0">
                <a:latin typeface="Calibri"/>
                <a:cs typeface="Calibri"/>
              </a:rPr>
              <a:t>n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-5" dirty="0">
                <a:latin typeface="Calibri"/>
                <a:cs typeface="Calibri"/>
              </a:rPr>
              <a:t>enance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816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Konsep</a:t>
            </a:r>
            <a:r>
              <a:rPr spc="-55" dirty="0"/>
              <a:t> </a:t>
            </a:r>
            <a:r>
              <a:rPr spc="-5" dirty="0"/>
              <a:t>TPM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9160" y="1929510"/>
            <a:ext cx="10395458" cy="4144010"/>
            <a:chOff x="899160" y="1929510"/>
            <a:chExt cx="10395458" cy="4144010"/>
          </a:xfrm>
        </p:grpSpPr>
        <p:sp>
          <p:nvSpPr>
            <p:cNvPr id="4" name="object 4"/>
            <p:cNvSpPr/>
            <p:nvPr/>
          </p:nvSpPr>
          <p:spPr>
            <a:xfrm>
              <a:off x="905065" y="1929510"/>
              <a:ext cx="873760" cy="4144010"/>
            </a:xfrm>
            <a:custGeom>
              <a:avLst/>
              <a:gdLst/>
              <a:ahLst/>
              <a:cxnLst/>
              <a:rect l="l" t="t" r="r" b="b"/>
              <a:pathLst>
                <a:path w="873760" h="4144010">
                  <a:moveTo>
                    <a:pt x="15290" y="0"/>
                  </a:moveTo>
                  <a:lnTo>
                    <a:pt x="49272" y="34536"/>
                  </a:lnTo>
                  <a:lnTo>
                    <a:pt x="82567" y="69490"/>
                  </a:lnTo>
                  <a:lnTo>
                    <a:pt x="115175" y="104854"/>
                  </a:lnTo>
                  <a:lnTo>
                    <a:pt x="147097" y="140619"/>
                  </a:lnTo>
                  <a:lnTo>
                    <a:pt x="178332" y="176776"/>
                  </a:lnTo>
                  <a:lnTo>
                    <a:pt x="208881" y="213318"/>
                  </a:lnTo>
                  <a:lnTo>
                    <a:pt x="238744" y="250235"/>
                  </a:lnTo>
                  <a:lnTo>
                    <a:pt x="267920" y="287518"/>
                  </a:lnTo>
                  <a:lnTo>
                    <a:pt x="296409" y="325160"/>
                  </a:lnTo>
                  <a:lnTo>
                    <a:pt x="324212" y="363152"/>
                  </a:lnTo>
                  <a:lnTo>
                    <a:pt x="351329" y="401486"/>
                  </a:lnTo>
                  <a:lnTo>
                    <a:pt x="377759" y="440152"/>
                  </a:lnTo>
                  <a:lnTo>
                    <a:pt x="403502" y="479142"/>
                  </a:lnTo>
                  <a:lnTo>
                    <a:pt x="428559" y="518448"/>
                  </a:lnTo>
                  <a:lnTo>
                    <a:pt x="452930" y="558062"/>
                  </a:lnTo>
                  <a:lnTo>
                    <a:pt x="476614" y="597973"/>
                  </a:lnTo>
                  <a:lnTo>
                    <a:pt x="499611" y="638175"/>
                  </a:lnTo>
                  <a:lnTo>
                    <a:pt x="521922" y="678659"/>
                  </a:lnTo>
                  <a:lnTo>
                    <a:pt x="543547" y="719416"/>
                  </a:lnTo>
                  <a:lnTo>
                    <a:pt x="564485" y="760437"/>
                  </a:lnTo>
                  <a:lnTo>
                    <a:pt x="584737" y="801714"/>
                  </a:lnTo>
                  <a:lnTo>
                    <a:pt x="604302" y="843239"/>
                  </a:lnTo>
                  <a:lnTo>
                    <a:pt x="623180" y="885002"/>
                  </a:lnTo>
                  <a:lnTo>
                    <a:pt x="641372" y="926996"/>
                  </a:lnTo>
                  <a:lnTo>
                    <a:pt x="658878" y="969212"/>
                  </a:lnTo>
                  <a:lnTo>
                    <a:pt x="675697" y="1011641"/>
                  </a:lnTo>
                  <a:lnTo>
                    <a:pt x="691830" y="1054275"/>
                  </a:lnTo>
                  <a:lnTo>
                    <a:pt x="707276" y="1097105"/>
                  </a:lnTo>
                  <a:lnTo>
                    <a:pt x="722035" y="1140123"/>
                  </a:lnTo>
                  <a:lnTo>
                    <a:pt x="736108" y="1183320"/>
                  </a:lnTo>
                  <a:lnTo>
                    <a:pt x="749495" y="1226688"/>
                  </a:lnTo>
                  <a:lnTo>
                    <a:pt x="762195" y="1270218"/>
                  </a:lnTo>
                  <a:lnTo>
                    <a:pt x="774209" y="1313901"/>
                  </a:lnTo>
                  <a:lnTo>
                    <a:pt x="785536" y="1357729"/>
                  </a:lnTo>
                  <a:lnTo>
                    <a:pt x="796177" y="1401694"/>
                  </a:lnTo>
                  <a:lnTo>
                    <a:pt x="806131" y="1445787"/>
                  </a:lnTo>
                  <a:lnTo>
                    <a:pt x="815398" y="1490000"/>
                  </a:lnTo>
                  <a:lnTo>
                    <a:pt x="823980" y="1534323"/>
                  </a:lnTo>
                  <a:lnTo>
                    <a:pt x="831874" y="1578749"/>
                  </a:lnTo>
                  <a:lnTo>
                    <a:pt x="839082" y="1623269"/>
                  </a:lnTo>
                  <a:lnTo>
                    <a:pt x="845604" y="1667874"/>
                  </a:lnTo>
                  <a:lnTo>
                    <a:pt x="851439" y="1712556"/>
                  </a:lnTo>
                  <a:lnTo>
                    <a:pt x="856588" y="1757306"/>
                  </a:lnTo>
                  <a:lnTo>
                    <a:pt x="861050" y="1802115"/>
                  </a:lnTo>
                  <a:lnTo>
                    <a:pt x="864826" y="1846976"/>
                  </a:lnTo>
                  <a:lnTo>
                    <a:pt x="867915" y="1891880"/>
                  </a:lnTo>
                  <a:lnTo>
                    <a:pt x="870318" y="1936818"/>
                  </a:lnTo>
                  <a:lnTo>
                    <a:pt x="872034" y="1981781"/>
                  </a:lnTo>
                  <a:lnTo>
                    <a:pt x="873064" y="2026762"/>
                  </a:lnTo>
                  <a:lnTo>
                    <a:pt x="873407" y="2071751"/>
                  </a:lnTo>
                  <a:lnTo>
                    <a:pt x="873064" y="2116739"/>
                  </a:lnTo>
                  <a:lnTo>
                    <a:pt x="872034" y="2161720"/>
                  </a:lnTo>
                  <a:lnTo>
                    <a:pt x="870318" y="2206683"/>
                  </a:lnTo>
                  <a:lnTo>
                    <a:pt x="867915" y="2251621"/>
                  </a:lnTo>
                  <a:lnTo>
                    <a:pt x="864826" y="2296525"/>
                  </a:lnTo>
                  <a:lnTo>
                    <a:pt x="861050" y="2341386"/>
                  </a:lnTo>
                  <a:lnTo>
                    <a:pt x="856588" y="2386195"/>
                  </a:lnTo>
                  <a:lnTo>
                    <a:pt x="851439" y="2430945"/>
                  </a:lnTo>
                  <a:lnTo>
                    <a:pt x="845604" y="2475627"/>
                  </a:lnTo>
                  <a:lnTo>
                    <a:pt x="839082" y="2520232"/>
                  </a:lnTo>
                  <a:lnTo>
                    <a:pt x="831874" y="2564752"/>
                  </a:lnTo>
                  <a:lnTo>
                    <a:pt x="823980" y="2609178"/>
                  </a:lnTo>
                  <a:lnTo>
                    <a:pt x="815398" y="2653501"/>
                  </a:lnTo>
                  <a:lnTo>
                    <a:pt x="806131" y="2697714"/>
                  </a:lnTo>
                  <a:lnTo>
                    <a:pt x="796177" y="2741807"/>
                  </a:lnTo>
                  <a:lnTo>
                    <a:pt x="785536" y="2785772"/>
                  </a:lnTo>
                  <a:lnTo>
                    <a:pt x="774209" y="2829600"/>
                  </a:lnTo>
                  <a:lnTo>
                    <a:pt x="762195" y="2873283"/>
                  </a:lnTo>
                  <a:lnTo>
                    <a:pt x="749495" y="2916813"/>
                  </a:lnTo>
                  <a:lnTo>
                    <a:pt x="736108" y="2960181"/>
                  </a:lnTo>
                  <a:lnTo>
                    <a:pt x="722035" y="3003378"/>
                  </a:lnTo>
                  <a:lnTo>
                    <a:pt x="707276" y="3046396"/>
                  </a:lnTo>
                  <a:lnTo>
                    <a:pt x="691830" y="3089226"/>
                  </a:lnTo>
                  <a:lnTo>
                    <a:pt x="675697" y="3131860"/>
                  </a:lnTo>
                  <a:lnTo>
                    <a:pt x="658878" y="3174289"/>
                  </a:lnTo>
                  <a:lnTo>
                    <a:pt x="641372" y="3216505"/>
                  </a:lnTo>
                  <a:lnTo>
                    <a:pt x="623180" y="3258499"/>
                  </a:lnTo>
                  <a:lnTo>
                    <a:pt x="604302" y="3300262"/>
                  </a:lnTo>
                  <a:lnTo>
                    <a:pt x="584737" y="3341787"/>
                  </a:lnTo>
                  <a:lnTo>
                    <a:pt x="564485" y="3383064"/>
                  </a:lnTo>
                  <a:lnTo>
                    <a:pt x="543547" y="3424085"/>
                  </a:lnTo>
                  <a:lnTo>
                    <a:pt x="521922" y="3464842"/>
                  </a:lnTo>
                  <a:lnTo>
                    <a:pt x="499611" y="3505326"/>
                  </a:lnTo>
                  <a:lnTo>
                    <a:pt x="476614" y="3545528"/>
                  </a:lnTo>
                  <a:lnTo>
                    <a:pt x="452930" y="3585439"/>
                  </a:lnTo>
                  <a:lnTo>
                    <a:pt x="428559" y="3625053"/>
                  </a:lnTo>
                  <a:lnTo>
                    <a:pt x="403502" y="3664359"/>
                  </a:lnTo>
                  <a:lnTo>
                    <a:pt x="377759" y="3703349"/>
                  </a:lnTo>
                  <a:lnTo>
                    <a:pt x="351329" y="3742015"/>
                  </a:lnTo>
                  <a:lnTo>
                    <a:pt x="324212" y="3780349"/>
                  </a:lnTo>
                  <a:lnTo>
                    <a:pt x="296409" y="3818341"/>
                  </a:lnTo>
                  <a:lnTo>
                    <a:pt x="267920" y="3855983"/>
                  </a:lnTo>
                  <a:lnTo>
                    <a:pt x="238744" y="3893266"/>
                  </a:lnTo>
                  <a:lnTo>
                    <a:pt x="208881" y="3930183"/>
                  </a:lnTo>
                  <a:lnTo>
                    <a:pt x="178332" y="3966725"/>
                  </a:lnTo>
                  <a:lnTo>
                    <a:pt x="147097" y="4002882"/>
                  </a:lnTo>
                  <a:lnTo>
                    <a:pt x="115175" y="4038647"/>
                  </a:lnTo>
                  <a:lnTo>
                    <a:pt x="82567" y="4074011"/>
                  </a:lnTo>
                  <a:lnTo>
                    <a:pt x="49272" y="4108965"/>
                  </a:lnTo>
                  <a:lnTo>
                    <a:pt x="15290" y="4143502"/>
                  </a:lnTo>
                  <a:lnTo>
                    <a:pt x="0" y="4128198"/>
                  </a:lnTo>
                  <a:lnTo>
                    <a:pt x="34067" y="4093568"/>
                  </a:lnTo>
                  <a:lnTo>
                    <a:pt x="67439" y="4058515"/>
                  </a:lnTo>
                  <a:lnTo>
                    <a:pt x="100116" y="4023048"/>
                  </a:lnTo>
                  <a:lnTo>
                    <a:pt x="132098" y="3987174"/>
                  </a:lnTo>
                  <a:lnTo>
                    <a:pt x="163384" y="3950903"/>
                  </a:lnTo>
                  <a:lnTo>
                    <a:pt x="193975" y="3914244"/>
                  </a:lnTo>
                  <a:lnTo>
                    <a:pt x="223871" y="3877205"/>
                  </a:lnTo>
                  <a:lnTo>
                    <a:pt x="253072" y="3839796"/>
                  </a:lnTo>
                  <a:lnTo>
                    <a:pt x="281577" y="3802024"/>
                  </a:lnTo>
                  <a:lnTo>
                    <a:pt x="309388" y="3763898"/>
                  </a:lnTo>
                  <a:lnTo>
                    <a:pt x="336502" y="3725428"/>
                  </a:lnTo>
                  <a:lnTo>
                    <a:pt x="362922" y="3686621"/>
                  </a:lnTo>
                  <a:lnTo>
                    <a:pt x="388647" y="3647487"/>
                  </a:lnTo>
                  <a:lnTo>
                    <a:pt x="413676" y="3608035"/>
                  </a:lnTo>
                  <a:lnTo>
                    <a:pt x="438010" y="3568273"/>
                  </a:lnTo>
                  <a:lnTo>
                    <a:pt x="461648" y="3528209"/>
                  </a:lnTo>
                  <a:lnTo>
                    <a:pt x="484592" y="3487853"/>
                  </a:lnTo>
                  <a:lnTo>
                    <a:pt x="506840" y="3447214"/>
                  </a:lnTo>
                  <a:lnTo>
                    <a:pt x="528393" y="3406299"/>
                  </a:lnTo>
                  <a:lnTo>
                    <a:pt x="549250" y="3365118"/>
                  </a:lnTo>
                  <a:lnTo>
                    <a:pt x="569413" y="3323680"/>
                  </a:lnTo>
                  <a:lnTo>
                    <a:pt x="588880" y="3281993"/>
                  </a:lnTo>
                  <a:lnTo>
                    <a:pt x="607652" y="3240066"/>
                  </a:lnTo>
                  <a:lnTo>
                    <a:pt x="625728" y="3197908"/>
                  </a:lnTo>
                  <a:lnTo>
                    <a:pt x="643110" y="3155527"/>
                  </a:lnTo>
                  <a:lnTo>
                    <a:pt x="659796" y="3112932"/>
                  </a:lnTo>
                  <a:lnTo>
                    <a:pt x="675786" y="3070132"/>
                  </a:lnTo>
                  <a:lnTo>
                    <a:pt x="691082" y="3027135"/>
                  </a:lnTo>
                  <a:lnTo>
                    <a:pt x="705682" y="2983951"/>
                  </a:lnTo>
                  <a:lnTo>
                    <a:pt x="719587" y="2940588"/>
                  </a:lnTo>
                  <a:lnTo>
                    <a:pt x="732797" y="2897055"/>
                  </a:lnTo>
                  <a:lnTo>
                    <a:pt x="745312" y="2853360"/>
                  </a:lnTo>
                  <a:lnTo>
                    <a:pt x="757131" y="2809512"/>
                  </a:lnTo>
                  <a:lnTo>
                    <a:pt x="768255" y="2765521"/>
                  </a:lnTo>
                  <a:lnTo>
                    <a:pt x="778684" y="2721394"/>
                  </a:lnTo>
                  <a:lnTo>
                    <a:pt x="788418" y="2677140"/>
                  </a:lnTo>
                  <a:lnTo>
                    <a:pt x="797456" y="2632769"/>
                  </a:lnTo>
                  <a:lnTo>
                    <a:pt x="805799" y="2588288"/>
                  </a:lnTo>
                  <a:lnTo>
                    <a:pt x="813447" y="2543708"/>
                  </a:lnTo>
                  <a:lnTo>
                    <a:pt x="820399" y="2499035"/>
                  </a:lnTo>
                  <a:lnTo>
                    <a:pt x="826657" y="2454280"/>
                  </a:lnTo>
                  <a:lnTo>
                    <a:pt x="832219" y="2409450"/>
                  </a:lnTo>
                  <a:lnTo>
                    <a:pt x="837085" y="2364555"/>
                  </a:lnTo>
                  <a:lnTo>
                    <a:pt x="841257" y="2319603"/>
                  </a:lnTo>
                  <a:lnTo>
                    <a:pt x="844733" y="2274603"/>
                  </a:lnTo>
                  <a:lnTo>
                    <a:pt x="847514" y="2229563"/>
                  </a:lnTo>
                  <a:lnTo>
                    <a:pt x="849600" y="2184494"/>
                  </a:lnTo>
                  <a:lnTo>
                    <a:pt x="850990" y="2139402"/>
                  </a:lnTo>
                  <a:lnTo>
                    <a:pt x="851686" y="2094297"/>
                  </a:lnTo>
                  <a:lnTo>
                    <a:pt x="851686" y="2049188"/>
                  </a:lnTo>
                  <a:lnTo>
                    <a:pt x="850990" y="2004083"/>
                  </a:lnTo>
                  <a:lnTo>
                    <a:pt x="849600" y="1958991"/>
                  </a:lnTo>
                  <a:lnTo>
                    <a:pt x="847514" y="1913921"/>
                  </a:lnTo>
                  <a:lnTo>
                    <a:pt x="844733" y="1868882"/>
                  </a:lnTo>
                  <a:lnTo>
                    <a:pt x="841257" y="1823882"/>
                  </a:lnTo>
                  <a:lnTo>
                    <a:pt x="837085" y="1778930"/>
                  </a:lnTo>
                  <a:lnTo>
                    <a:pt x="832219" y="1734034"/>
                  </a:lnTo>
                  <a:lnTo>
                    <a:pt x="826657" y="1689204"/>
                  </a:lnTo>
                  <a:lnTo>
                    <a:pt x="820399" y="1644448"/>
                  </a:lnTo>
                  <a:lnTo>
                    <a:pt x="813447" y="1599775"/>
                  </a:lnTo>
                  <a:lnTo>
                    <a:pt x="805799" y="1555194"/>
                  </a:lnTo>
                  <a:lnTo>
                    <a:pt x="797456" y="1510713"/>
                  </a:lnTo>
                  <a:lnTo>
                    <a:pt x="788418" y="1466341"/>
                  </a:lnTo>
                  <a:lnTo>
                    <a:pt x="778684" y="1422087"/>
                  </a:lnTo>
                  <a:lnTo>
                    <a:pt x="768255" y="1377960"/>
                  </a:lnTo>
                  <a:lnTo>
                    <a:pt x="757131" y="1333968"/>
                  </a:lnTo>
                  <a:lnTo>
                    <a:pt x="745312" y="1290119"/>
                  </a:lnTo>
                  <a:lnTo>
                    <a:pt x="732797" y="1246424"/>
                  </a:lnTo>
                  <a:lnTo>
                    <a:pt x="719587" y="1202890"/>
                  </a:lnTo>
                  <a:lnTo>
                    <a:pt x="705682" y="1159526"/>
                  </a:lnTo>
                  <a:lnTo>
                    <a:pt x="691082" y="1116341"/>
                  </a:lnTo>
                  <a:lnTo>
                    <a:pt x="675786" y="1073344"/>
                  </a:lnTo>
                  <a:lnTo>
                    <a:pt x="659796" y="1030543"/>
                  </a:lnTo>
                  <a:lnTo>
                    <a:pt x="643110" y="987947"/>
                  </a:lnTo>
                  <a:lnTo>
                    <a:pt x="625728" y="945565"/>
                  </a:lnTo>
                  <a:lnTo>
                    <a:pt x="607652" y="903405"/>
                  </a:lnTo>
                  <a:lnTo>
                    <a:pt x="588880" y="861477"/>
                  </a:lnTo>
                  <a:lnTo>
                    <a:pt x="569413" y="819789"/>
                  </a:lnTo>
                  <a:lnTo>
                    <a:pt x="549250" y="778350"/>
                  </a:lnTo>
                  <a:lnTo>
                    <a:pt x="528393" y="737168"/>
                  </a:lnTo>
                  <a:lnTo>
                    <a:pt x="506840" y="696252"/>
                  </a:lnTo>
                  <a:lnTo>
                    <a:pt x="484592" y="655611"/>
                  </a:lnTo>
                  <a:lnTo>
                    <a:pt x="461648" y="615254"/>
                  </a:lnTo>
                  <a:lnTo>
                    <a:pt x="438010" y="575189"/>
                  </a:lnTo>
                  <a:lnTo>
                    <a:pt x="413676" y="535426"/>
                  </a:lnTo>
                  <a:lnTo>
                    <a:pt x="388647" y="495972"/>
                  </a:lnTo>
                  <a:lnTo>
                    <a:pt x="362922" y="456837"/>
                  </a:lnTo>
                  <a:lnTo>
                    <a:pt x="336502" y="418029"/>
                  </a:lnTo>
                  <a:lnTo>
                    <a:pt x="309388" y="379557"/>
                  </a:lnTo>
                  <a:lnTo>
                    <a:pt x="281577" y="341430"/>
                  </a:lnTo>
                  <a:lnTo>
                    <a:pt x="253072" y="303656"/>
                  </a:lnTo>
                  <a:lnTo>
                    <a:pt x="223871" y="266245"/>
                  </a:lnTo>
                  <a:lnTo>
                    <a:pt x="193975" y="229204"/>
                  </a:lnTo>
                  <a:lnTo>
                    <a:pt x="163384" y="192543"/>
                  </a:lnTo>
                  <a:lnTo>
                    <a:pt x="132098" y="156271"/>
                  </a:lnTo>
                  <a:lnTo>
                    <a:pt x="100116" y="120395"/>
                  </a:lnTo>
                  <a:lnTo>
                    <a:pt x="67439" y="84926"/>
                  </a:lnTo>
                  <a:lnTo>
                    <a:pt x="34067" y="49871"/>
                  </a:lnTo>
                  <a:lnTo>
                    <a:pt x="0" y="15239"/>
                  </a:lnTo>
                  <a:lnTo>
                    <a:pt x="15290" y="0"/>
                  </a:lnTo>
                  <a:close/>
                </a:path>
              </a:pathLst>
            </a:custGeom>
            <a:ln w="1219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3228" y="2260091"/>
              <a:ext cx="9851390" cy="870585"/>
            </a:xfrm>
            <a:custGeom>
              <a:avLst/>
              <a:gdLst/>
              <a:ahLst/>
              <a:cxnLst/>
              <a:rect l="l" t="t" r="r" b="b"/>
              <a:pathLst>
                <a:path w="9851390" h="870585">
                  <a:moveTo>
                    <a:pt x="9851136" y="0"/>
                  </a:moveTo>
                  <a:lnTo>
                    <a:pt x="0" y="0"/>
                  </a:lnTo>
                  <a:lnTo>
                    <a:pt x="0" y="870203"/>
                  </a:lnTo>
                  <a:lnTo>
                    <a:pt x="9851136" y="870203"/>
                  </a:lnTo>
                  <a:lnTo>
                    <a:pt x="985113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43228" y="2260091"/>
              <a:ext cx="9851390" cy="870585"/>
            </a:xfrm>
            <a:custGeom>
              <a:avLst/>
              <a:gdLst/>
              <a:ahLst/>
              <a:cxnLst/>
              <a:rect l="l" t="t" r="r" b="b"/>
              <a:pathLst>
                <a:path w="9851390" h="870585">
                  <a:moveTo>
                    <a:pt x="0" y="870203"/>
                  </a:moveTo>
                  <a:lnTo>
                    <a:pt x="9851136" y="870203"/>
                  </a:lnTo>
                  <a:lnTo>
                    <a:pt x="9851136" y="0"/>
                  </a:lnTo>
                  <a:lnTo>
                    <a:pt x="0" y="0"/>
                  </a:lnTo>
                  <a:lnTo>
                    <a:pt x="0" y="87020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9160" y="2151887"/>
              <a:ext cx="1087120" cy="1088390"/>
            </a:xfrm>
            <a:custGeom>
              <a:avLst/>
              <a:gdLst/>
              <a:ahLst/>
              <a:cxnLst/>
              <a:rect l="l" t="t" r="r" b="b"/>
              <a:pathLst>
                <a:path w="1087120" h="1088389">
                  <a:moveTo>
                    <a:pt x="543306" y="0"/>
                  </a:moveTo>
                  <a:lnTo>
                    <a:pt x="496427" y="1997"/>
                  </a:lnTo>
                  <a:lnTo>
                    <a:pt x="450655" y="7879"/>
                  </a:lnTo>
                  <a:lnTo>
                    <a:pt x="406154" y="17483"/>
                  </a:lnTo>
                  <a:lnTo>
                    <a:pt x="363087" y="30646"/>
                  </a:lnTo>
                  <a:lnTo>
                    <a:pt x="321616" y="47204"/>
                  </a:lnTo>
                  <a:lnTo>
                    <a:pt x="281905" y="66994"/>
                  </a:lnTo>
                  <a:lnTo>
                    <a:pt x="244117" y="89852"/>
                  </a:lnTo>
                  <a:lnTo>
                    <a:pt x="208414" y="115616"/>
                  </a:lnTo>
                  <a:lnTo>
                    <a:pt x="174961" y="144122"/>
                  </a:lnTo>
                  <a:lnTo>
                    <a:pt x="143920" y="175207"/>
                  </a:lnTo>
                  <a:lnTo>
                    <a:pt x="115454" y="208708"/>
                  </a:lnTo>
                  <a:lnTo>
                    <a:pt x="89726" y="244460"/>
                  </a:lnTo>
                  <a:lnTo>
                    <a:pt x="66900" y="282301"/>
                  </a:lnTo>
                  <a:lnTo>
                    <a:pt x="47137" y="322068"/>
                  </a:lnTo>
                  <a:lnTo>
                    <a:pt x="30603" y="363596"/>
                  </a:lnTo>
                  <a:lnTo>
                    <a:pt x="17458" y="406724"/>
                  </a:lnTo>
                  <a:lnTo>
                    <a:pt x="7868" y="451287"/>
                  </a:lnTo>
                  <a:lnTo>
                    <a:pt x="1994" y="497123"/>
                  </a:lnTo>
                  <a:lnTo>
                    <a:pt x="0" y="544067"/>
                  </a:lnTo>
                  <a:lnTo>
                    <a:pt x="1994" y="591012"/>
                  </a:lnTo>
                  <a:lnTo>
                    <a:pt x="7868" y="636848"/>
                  </a:lnTo>
                  <a:lnTo>
                    <a:pt x="17458" y="681411"/>
                  </a:lnTo>
                  <a:lnTo>
                    <a:pt x="30603" y="724539"/>
                  </a:lnTo>
                  <a:lnTo>
                    <a:pt x="47137" y="766067"/>
                  </a:lnTo>
                  <a:lnTo>
                    <a:pt x="66900" y="805834"/>
                  </a:lnTo>
                  <a:lnTo>
                    <a:pt x="89726" y="843675"/>
                  </a:lnTo>
                  <a:lnTo>
                    <a:pt x="115454" y="879427"/>
                  </a:lnTo>
                  <a:lnTo>
                    <a:pt x="143920" y="912928"/>
                  </a:lnTo>
                  <a:lnTo>
                    <a:pt x="174961" y="944013"/>
                  </a:lnTo>
                  <a:lnTo>
                    <a:pt x="208414" y="972519"/>
                  </a:lnTo>
                  <a:lnTo>
                    <a:pt x="244117" y="998283"/>
                  </a:lnTo>
                  <a:lnTo>
                    <a:pt x="281905" y="1021141"/>
                  </a:lnTo>
                  <a:lnTo>
                    <a:pt x="321616" y="1040931"/>
                  </a:lnTo>
                  <a:lnTo>
                    <a:pt x="363087" y="1057489"/>
                  </a:lnTo>
                  <a:lnTo>
                    <a:pt x="406154" y="1070652"/>
                  </a:lnTo>
                  <a:lnTo>
                    <a:pt x="450655" y="1080256"/>
                  </a:lnTo>
                  <a:lnTo>
                    <a:pt x="496427" y="1086138"/>
                  </a:lnTo>
                  <a:lnTo>
                    <a:pt x="543306" y="1088136"/>
                  </a:lnTo>
                  <a:lnTo>
                    <a:pt x="590190" y="1086138"/>
                  </a:lnTo>
                  <a:lnTo>
                    <a:pt x="635966" y="1080256"/>
                  </a:lnTo>
                  <a:lnTo>
                    <a:pt x="680470" y="1070652"/>
                  </a:lnTo>
                  <a:lnTo>
                    <a:pt x="723539" y="1057489"/>
                  </a:lnTo>
                  <a:lnTo>
                    <a:pt x="765012" y="1040931"/>
                  </a:lnTo>
                  <a:lnTo>
                    <a:pt x="804723" y="1021141"/>
                  </a:lnTo>
                  <a:lnTo>
                    <a:pt x="842511" y="998283"/>
                  </a:lnTo>
                  <a:lnTo>
                    <a:pt x="878213" y="972519"/>
                  </a:lnTo>
                  <a:lnTo>
                    <a:pt x="911665" y="944013"/>
                  </a:lnTo>
                  <a:lnTo>
                    <a:pt x="942704" y="912928"/>
                  </a:lnTo>
                  <a:lnTo>
                    <a:pt x="971169" y="879427"/>
                  </a:lnTo>
                  <a:lnTo>
                    <a:pt x="996895" y="843675"/>
                  </a:lnTo>
                  <a:lnTo>
                    <a:pt x="1019719" y="805834"/>
                  </a:lnTo>
                  <a:lnTo>
                    <a:pt x="1039479" y="766067"/>
                  </a:lnTo>
                  <a:lnTo>
                    <a:pt x="1056012" y="724539"/>
                  </a:lnTo>
                  <a:lnTo>
                    <a:pt x="1069155" y="681411"/>
                  </a:lnTo>
                  <a:lnTo>
                    <a:pt x="1078744" y="636848"/>
                  </a:lnTo>
                  <a:lnTo>
                    <a:pt x="1084618" y="591012"/>
                  </a:lnTo>
                  <a:lnTo>
                    <a:pt x="1086612" y="544067"/>
                  </a:lnTo>
                  <a:lnTo>
                    <a:pt x="1084618" y="497123"/>
                  </a:lnTo>
                  <a:lnTo>
                    <a:pt x="1078744" y="451287"/>
                  </a:lnTo>
                  <a:lnTo>
                    <a:pt x="1069155" y="406724"/>
                  </a:lnTo>
                  <a:lnTo>
                    <a:pt x="1056012" y="363596"/>
                  </a:lnTo>
                  <a:lnTo>
                    <a:pt x="1039479" y="322068"/>
                  </a:lnTo>
                  <a:lnTo>
                    <a:pt x="1019719" y="282301"/>
                  </a:lnTo>
                  <a:lnTo>
                    <a:pt x="996895" y="244460"/>
                  </a:lnTo>
                  <a:lnTo>
                    <a:pt x="971169" y="208708"/>
                  </a:lnTo>
                  <a:lnTo>
                    <a:pt x="942704" y="175207"/>
                  </a:lnTo>
                  <a:lnTo>
                    <a:pt x="911665" y="144122"/>
                  </a:lnTo>
                  <a:lnTo>
                    <a:pt x="878213" y="115616"/>
                  </a:lnTo>
                  <a:lnTo>
                    <a:pt x="842511" y="89852"/>
                  </a:lnTo>
                  <a:lnTo>
                    <a:pt x="804723" y="66994"/>
                  </a:lnTo>
                  <a:lnTo>
                    <a:pt x="765012" y="47204"/>
                  </a:lnTo>
                  <a:lnTo>
                    <a:pt x="723539" y="30646"/>
                  </a:lnTo>
                  <a:lnTo>
                    <a:pt x="680470" y="17483"/>
                  </a:lnTo>
                  <a:lnTo>
                    <a:pt x="635966" y="7879"/>
                  </a:lnTo>
                  <a:lnTo>
                    <a:pt x="590190" y="1997"/>
                  </a:lnTo>
                  <a:lnTo>
                    <a:pt x="5433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9160" y="2151887"/>
              <a:ext cx="1087120" cy="1088390"/>
            </a:xfrm>
            <a:custGeom>
              <a:avLst/>
              <a:gdLst/>
              <a:ahLst/>
              <a:cxnLst/>
              <a:rect l="l" t="t" r="r" b="b"/>
              <a:pathLst>
                <a:path w="1087120" h="1088389">
                  <a:moveTo>
                    <a:pt x="0" y="544067"/>
                  </a:moveTo>
                  <a:lnTo>
                    <a:pt x="1994" y="497123"/>
                  </a:lnTo>
                  <a:lnTo>
                    <a:pt x="7868" y="451287"/>
                  </a:lnTo>
                  <a:lnTo>
                    <a:pt x="17458" y="406724"/>
                  </a:lnTo>
                  <a:lnTo>
                    <a:pt x="30603" y="363596"/>
                  </a:lnTo>
                  <a:lnTo>
                    <a:pt x="47137" y="322068"/>
                  </a:lnTo>
                  <a:lnTo>
                    <a:pt x="66900" y="282301"/>
                  </a:lnTo>
                  <a:lnTo>
                    <a:pt x="89726" y="244460"/>
                  </a:lnTo>
                  <a:lnTo>
                    <a:pt x="115454" y="208708"/>
                  </a:lnTo>
                  <a:lnTo>
                    <a:pt x="143920" y="175207"/>
                  </a:lnTo>
                  <a:lnTo>
                    <a:pt x="174961" y="144122"/>
                  </a:lnTo>
                  <a:lnTo>
                    <a:pt x="208414" y="115616"/>
                  </a:lnTo>
                  <a:lnTo>
                    <a:pt x="244117" y="89852"/>
                  </a:lnTo>
                  <a:lnTo>
                    <a:pt x="281905" y="66994"/>
                  </a:lnTo>
                  <a:lnTo>
                    <a:pt x="321616" y="47204"/>
                  </a:lnTo>
                  <a:lnTo>
                    <a:pt x="363087" y="30646"/>
                  </a:lnTo>
                  <a:lnTo>
                    <a:pt x="406154" y="17483"/>
                  </a:lnTo>
                  <a:lnTo>
                    <a:pt x="450655" y="7879"/>
                  </a:lnTo>
                  <a:lnTo>
                    <a:pt x="496427" y="1997"/>
                  </a:lnTo>
                  <a:lnTo>
                    <a:pt x="543306" y="0"/>
                  </a:lnTo>
                  <a:lnTo>
                    <a:pt x="590190" y="1997"/>
                  </a:lnTo>
                  <a:lnTo>
                    <a:pt x="635966" y="7879"/>
                  </a:lnTo>
                  <a:lnTo>
                    <a:pt x="680470" y="17483"/>
                  </a:lnTo>
                  <a:lnTo>
                    <a:pt x="723539" y="30646"/>
                  </a:lnTo>
                  <a:lnTo>
                    <a:pt x="765012" y="47204"/>
                  </a:lnTo>
                  <a:lnTo>
                    <a:pt x="804723" y="66994"/>
                  </a:lnTo>
                  <a:lnTo>
                    <a:pt x="842511" y="89852"/>
                  </a:lnTo>
                  <a:lnTo>
                    <a:pt x="878213" y="115616"/>
                  </a:lnTo>
                  <a:lnTo>
                    <a:pt x="911665" y="144122"/>
                  </a:lnTo>
                  <a:lnTo>
                    <a:pt x="942704" y="175207"/>
                  </a:lnTo>
                  <a:lnTo>
                    <a:pt x="971169" y="208708"/>
                  </a:lnTo>
                  <a:lnTo>
                    <a:pt x="996895" y="244460"/>
                  </a:lnTo>
                  <a:lnTo>
                    <a:pt x="1019719" y="282301"/>
                  </a:lnTo>
                  <a:lnTo>
                    <a:pt x="1039479" y="322068"/>
                  </a:lnTo>
                  <a:lnTo>
                    <a:pt x="1056012" y="363596"/>
                  </a:lnTo>
                  <a:lnTo>
                    <a:pt x="1069155" y="406724"/>
                  </a:lnTo>
                  <a:lnTo>
                    <a:pt x="1078744" y="451287"/>
                  </a:lnTo>
                  <a:lnTo>
                    <a:pt x="1084618" y="497123"/>
                  </a:lnTo>
                  <a:lnTo>
                    <a:pt x="1086612" y="544067"/>
                  </a:lnTo>
                  <a:lnTo>
                    <a:pt x="1084618" y="591012"/>
                  </a:lnTo>
                  <a:lnTo>
                    <a:pt x="1078744" y="636848"/>
                  </a:lnTo>
                  <a:lnTo>
                    <a:pt x="1069155" y="681411"/>
                  </a:lnTo>
                  <a:lnTo>
                    <a:pt x="1056012" y="724539"/>
                  </a:lnTo>
                  <a:lnTo>
                    <a:pt x="1039479" y="766067"/>
                  </a:lnTo>
                  <a:lnTo>
                    <a:pt x="1019719" y="805834"/>
                  </a:lnTo>
                  <a:lnTo>
                    <a:pt x="996895" y="843675"/>
                  </a:lnTo>
                  <a:lnTo>
                    <a:pt x="971169" y="879427"/>
                  </a:lnTo>
                  <a:lnTo>
                    <a:pt x="942704" y="912928"/>
                  </a:lnTo>
                  <a:lnTo>
                    <a:pt x="911665" y="944013"/>
                  </a:lnTo>
                  <a:lnTo>
                    <a:pt x="878213" y="972519"/>
                  </a:lnTo>
                  <a:lnTo>
                    <a:pt x="842511" y="998283"/>
                  </a:lnTo>
                  <a:lnTo>
                    <a:pt x="804723" y="1021141"/>
                  </a:lnTo>
                  <a:lnTo>
                    <a:pt x="765012" y="1040931"/>
                  </a:lnTo>
                  <a:lnTo>
                    <a:pt x="723539" y="1057489"/>
                  </a:lnTo>
                  <a:lnTo>
                    <a:pt x="680470" y="1070652"/>
                  </a:lnTo>
                  <a:lnTo>
                    <a:pt x="635966" y="1080256"/>
                  </a:lnTo>
                  <a:lnTo>
                    <a:pt x="590190" y="1086138"/>
                  </a:lnTo>
                  <a:lnTo>
                    <a:pt x="543306" y="1088136"/>
                  </a:lnTo>
                  <a:lnTo>
                    <a:pt x="496427" y="1086138"/>
                  </a:lnTo>
                  <a:lnTo>
                    <a:pt x="450655" y="1080256"/>
                  </a:lnTo>
                  <a:lnTo>
                    <a:pt x="406154" y="1070652"/>
                  </a:lnTo>
                  <a:lnTo>
                    <a:pt x="363087" y="1057489"/>
                  </a:lnTo>
                  <a:lnTo>
                    <a:pt x="321616" y="1040931"/>
                  </a:lnTo>
                  <a:lnTo>
                    <a:pt x="281905" y="1021141"/>
                  </a:lnTo>
                  <a:lnTo>
                    <a:pt x="244117" y="998283"/>
                  </a:lnTo>
                  <a:lnTo>
                    <a:pt x="208414" y="972519"/>
                  </a:lnTo>
                  <a:lnTo>
                    <a:pt x="174961" y="944013"/>
                  </a:lnTo>
                  <a:lnTo>
                    <a:pt x="143920" y="912928"/>
                  </a:lnTo>
                  <a:lnTo>
                    <a:pt x="115454" y="879427"/>
                  </a:lnTo>
                  <a:lnTo>
                    <a:pt x="89726" y="843675"/>
                  </a:lnTo>
                  <a:lnTo>
                    <a:pt x="66900" y="805834"/>
                  </a:lnTo>
                  <a:lnTo>
                    <a:pt x="47137" y="766067"/>
                  </a:lnTo>
                  <a:lnTo>
                    <a:pt x="30603" y="724539"/>
                  </a:lnTo>
                  <a:lnTo>
                    <a:pt x="17458" y="681411"/>
                  </a:lnTo>
                  <a:lnTo>
                    <a:pt x="7868" y="636848"/>
                  </a:lnTo>
                  <a:lnTo>
                    <a:pt x="1994" y="591012"/>
                  </a:lnTo>
                  <a:lnTo>
                    <a:pt x="0" y="544067"/>
                  </a:lnTo>
                  <a:close/>
                </a:path>
              </a:pathLst>
            </a:custGeom>
            <a:ln w="1219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8696" y="3566159"/>
              <a:ext cx="9535795" cy="870585"/>
            </a:xfrm>
            <a:custGeom>
              <a:avLst/>
              <a:gdLst/>
              <a:ahLst/>
              <a:cxnLst/>
              <a:rect l="l" t="t" r="r" b="b"/>
              <a:pathLst>
                <a:path w="9535795" h="870585">
                  <a:moveTo>
                    <a:pt x="9535668" y="0"/>
                  </a:moveTo>
                  <a:lnTo>
                    <a:pt x="0" y="0"/>
                  </a:lnTo>
                  <a:lnTo>
                    <a:pt x="0" y="870203"/>
                  </a:lnTo>
                  <a:lnTo>
                    <a:pt x="9535668" y="870203"/>
                  </a:lnTo>
                  <a:lnTo>
                    <a:pt x="953566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58696" y="3566159"/>
              <a:ext cx="9535795" cy="870585"/>
            </a:xfrm>
            <a:custGeom>
              <a:avLst/>
              <a:gdLst/>
              <a:ahLst/>
              <a:cxnLst/>
              <a:rect l="l" t="t" r="r" b="b"/>
              <a:pathLst>
                <a:path w="9535795" h="870585">
                  <a:moveTo>
                    <a:pt x="0" y="870203"/>
                  </a:moveTo>
                  <a:lnTo>
                    <a:pt x="9535668" y="870203"/>
                  </a:lnTo>
                  <a:lnTo>
                    <a:pt x="9535668" y="0"/>
                  </a:lnTo>
                  <a:lnTo>
                    <a:pt x="0" y="0"/>
                  </a:lnTo>
                  <a:lnTo>
                    <a:pt x="0" y="87020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14628" y="3457955"/>
              <a:ext cx="1088390" cy="1087120"/>
            </a:xfrm>
            <a:custGeom>
              <a:avLst/>
              <a:gdLst/>
              <a:ahLst/>
              <a:cxnLst/>
              <a:rect l="l" t="t" r="r" b="b"/>
              <a:pathLst>
                <a:path w="1088389" h="1087120">
                  <a:moveTo>
                    <a:pt x="544067" y="0"/>
                  </a:moveTo>
                  <a:lnTo>
                    <a:pt x="497123" y="1993"/>
                  </a:lnTo>
                  <a:lnTo>
                    <a:pt x="451287" y="7867"/>
                  </a:lnTo>
                  <a:lnTo>
                    <a:pt x="406724" y="17456"/>
                  </a:lnTo>
                  <a:lnTo>
                    <a:pt x="363596" y="30599"/>
                  </a:lnTo>
                  <a:lnTo>
                    <a:pt x="322068" y="47132"/>
                  </a:lnTo>
                  <a:lnTo>
                    <a:pt x="282301" y="66892"/>
                  </a:lnTo>
                  <a:lnTo>
                    <a:pt x="244460" y="89716"/>
                  </a:lnTo>
                  <a:lnTo>
                    <a:pt x="208708" y="115442"/>
                  </a:lnTo>
                  <a:lnTo>
                    <a:pt x="175207" y="143907"/>
                  </a:lnTo>
                  <a:lnTo>
                    <a:pt x="144122" y="174946"/>
                  </a:lnTo>
                  <a:lnTo>
                    <a:pt x="115616" y="208398"/>
                  </a:lnTo>
                  <a:lnTo>
                    <a:pt x="89852" y="244100"/>
                  </a:lnTo>
                  <a:lnTo>
                    <a:pt x="66994" y="281888"/>
                  </a:lnTo>
                  <a:lnTo>
                    <a:pt x="47204" y="321599"/>
                  </a:lnTo>
                  <a:lnTo>
                    <a:pt x="30646" y="363072"/>
                  </a:lnTo>
                  <a:lnTo>
                    <a:pt x="17483" y="406141"/>
                  </a:lnTo>
                  <a:lnTo>
                    <a:pt x="7879" y="450645"/>
                  </a:lnTo>
                  <a:lnTo>
                    <a:pt x="1997" y="496421"/>
                  </a:lnTo>
                  <a:lnTo>
                    <a:pt x="0" y="543306"/>
                  </a:lnTo>
                  <a:lnTo>
                    <a:pt x="1997" y="590190"/>
                  </a:lnTo>
                  <a:lnTo>
                    <a:pt x="7879" y="635966"/>
                  </a:lnTo>
                  <a:lnTo>
                    <a:pt x="17483" y="680470"/>
                  </a:lnTo>
                  <a:lnTo>
                    <a:pt x="30646" y="723539"/>
                  </a:lnTo>
                  <a:lnTo>
                    <a:pt x="47204" y="765012"/>
                  </a:lnTo>
                  <a:lnTo>
                    <a:pt x="66994" y="804723"/>
                  </a:lnTo>
                  <a:lnTo>
                    <a:pt x="89852" y="842511"/>
                  </a:lnTo>
                  <a:lnTo>
                    <a:pt x="115616" y="878213"/>
                  </a:lnTo>
                  <a:lnTo>
                    <a:pt x="144122" y="911665"/>
                  </a:lnTo>
                  <a:lnTo>
                    <a:pt x="175207" y="942704"/>
                  </a:lnTo>
                  <a:lnTo>
                    <a:pt x="208708" y="971169"/>
                  </a:lnTo>
                  <a:lnTo>
                    <a:pt x="244460" y="996895"/>
                  </a:lnTo>
                  <a:lnTo>
                    <a:pt x="282301" y="1019719"/>
                  </a:lnTo>
                  <a:lnTo>
                    <a:pt x="322068" y="1039479"/>
                  </a:lnTo>
                  <a:lnTo>
                    <a:pt x="363596" y="1056012"/>
                  </a:lnTo>
                  <a:lnTo>
                    <a:pt x="406724" y="1069155"/>
                  </a:lnTo>
                  <a:lnTo>
                    <a:pt x="451287" y="1078744"/>
                  </a:lnTo>
                  <a:lnTo>
                    <a:pt x="497123" y="1084618"/>
                  </a:lnTo>
                  <a:lnTo>
                    <a:pt x="544067" y="1086612"/>
                  </a:lnTo>
                  <a:lnTo>
                    <a:pt x="591012" y="1084618"/>
                  </a:lnTo>
                  <a:lnTo>
                    <a:pt x="636848" y="1078744"/>
                  </a:lnTo>
                  <a:lnTo>
                    <a:pt x="681411" y="1069155"/>
                  </a:lnTo>
                  <a:lnTo>
                    <a:pt x="724539" y="1056012"/>
                  </a:lnTo>
                  <a:lnTo>
                    <a:pt x="766067" y="1039479"/>
                  </a:lnTo>
                  <a:lnTo>
                    <a:pt x="805834" y="1019719"/>
                  </a:lnTo>
                  <a:lnTo>
                    <a:pt x="843675" y="996895"/>
                  </a:lnTo>
                  <a:lnTo>
                    <a:pt x="879427" y="971169"/>
                  </a:lnTo>
                  <a:lnTo>
                    <a:pt x="912928" y="942704"/>
                  </a:lnTo>
                  <a:lnTo>
                    <a:pt x="944013" y="911665"/>
                  </a:lnTo>
                  <a:lnTo>
                    <a:pt x="972519" y="878213"/>
                  </a:lnTo>
                  <a:lnTo>
                    <a:pt x="998283" y="842511"/>
                  </a:lnTo>
                  <a:lnTo>
                    <a:pt x="1021141" y="804723"/>
                  </a:lnTo>
                  <a:lnTo>
                    <a:pt x="1040931" y="765012"/>
                  </a:lnTo>
                  <a:lnTo>
                    <a:pt x="1057489" y="723539"/>
                  </a:lnTo>
                  <a:lnTo>
                    <a:pt x="1070652" y="680470"/>
                  </a:lnTo>
                  <a:lnTo>
                    <a:pt x="1080256" y="635966"/>
                  </a:lnTo>
                  <a:lnTo>
                    <a:pt x="1086138" y="590190"/>
                  </a:lnTo>
                  <a:lnTo>
                    <a:pt x="1088136" y="543306"/>
                  </a:lnTo>
                  <a:lnTo>
                    <a:pt x="1086138" y="496421"/>
                  </a:lnTo>
                  <a:lnTo>
                    <a:pt x="1080256" y="450645"/>
                  </a:lnTo>
                  <a:lnTo>
                    <a:pt x="1070652" y="406141"/>
                  </a:lnTo>
                  <a:lnTo>
                    <a:pt x="1057489" y="363072"/>
                  </a:lnTo>
                  <a:lnTo>
                    <a:pt x="1040931" y="321599"/>
                  </a:lnTo>
                  <a:lnTo>
                    <a:pt x="1021141" y="281888"/>
                  </a:lnTo>
                  <a:lnTo>
                    <a:pt x="998283" y="244100"/>
                  </a:lnTo>
                  <a:lnTo>
                    <a:pt x="972519" y="208398"/>
                  </a:lnTo>
                  <a:lnTo>
                    <a:pt x="944013" y="174946"/>
                  </a:lnTo>
                  <a:lnTo>
                    <a:pt x="912928" y="143907"/>
                  </a:lnTo>
                  <a:lnTo>
                    <a:pt x="879427" y="115442"/>
                  </a:lnTo>
                  <a:lnTo>
                    <a:pt x="843675" y="89716"/>
                  </a:lnTo>
                  <a:lnTo>
                    <a:pt x="805834" y="66892"/>
                  </a:lnTo>
                  <a:lnTo>
                    <a:pt x="766067" y="47132"/>
                  </a:lnTo>
                  <a:lnTo>
                    <a:pt x="724539" y="30599"/>
                  </a:lnTo>
                  <a:lnTo>
                    <a:pt x="681411" y="17456"/>
                  </a:lnTo>
                  <a:lnTo>
                    <a:pt x="636848" y="7867"/>
                  </a:lnTo>
                  <a:lnTo>
                    <a:pt x="591012" y="1993"/>
                  </a:lnTo>
                  <a:lnTo>
                    <a:pt x="5440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4628" y="3457955"/>
              <a:ext cx="1088390" cy="1087120"/>
            </a:xfrm>
            <a:custGeom>
              <a:avLst/>
              <a:gdLst/>
              <a:ahLst/>
              <a:cxnLst/>
              <a:rect l="l" t="t" r="r" b="b"/>
              <a:pathLst>
                <a:path w="1088389" h="1087120">
                  <a:moveTo>
                    <a:pt x="0" y="543306"/>
                  </a:moveTo>
                  <a:lnTo>
                    <a:pt x="1997" y="496421"/>
                  </a:lnTo>
                  <a:lnTo>
                    <a:pt x="7879" y="450645"/>
                  </a:lnTo>
                  <a:lnTo>
                    <a:pt x="17483" y="406141"/>
                  </a:lnTo>
                  <a:lnTo>
                    <a:pt x="30646" y="363072"/>
                  </a:lnTo>
                  <a:lnTo>
                    <a:pt x="47204" y="321599"/>
                  </a:lnTo>
                  <a:lnTo>
                    <a:pt x="66994" y="281888"/>
                  </a:lnTo>
                  <a:lnTo>
                    <a:pt x="89852" y="244100"/>
                  </a:lnTo>
                  <a:lnTo>
                    <a:pt x="115616" y="208398"/>
                  </a:lnTo>
                  <a:lnTo>
                    <a:pt x="144122" y="174946"/>
                  </a:lnTo>
                  <a:lnTo>
                    <a:pt x="175207" y="143907"/>
                  </a:lnTo>
                  <a:lnTo>
                    <a:pt x="208708" y="115442"/>
                  </a:lnTo>
                  <a:lnTo>
                    <a:pt x="244460" y="89716"/>
                  </a:lnTo>
                  <a:lnTo>
                    <a:pt x="282301" y="66892"/>
                  </a:lnTo>
                  <a:lnTo>
                    <a:pt x="322068" y="47132"/>
                  </a:lnTo>
                  <a:lnTo>
                    <a:pt x="363596" y="30599"/>
                  </a:lnTo>
                  <a:lnTo>
                    <a:pt x="406724" y="17456"/>
                  </a:lnTo>
                  <a:lnTo>
                    <a:pt x="451287" y="7867"/>
                  </a:lnTo>
                  <a:lnTo>
                    <a:pt x="497123" y="1993"/>
                  </a:lnTo>
                  <a:lnTo>
                    <a:pt x="544067" y="0"/>
                  </a:lnTo>
                  <a:lnTo>
                    <a:pt x="591012" y="1993"/>
                  </a:lnTo>
                  <a:lnTo>
                    <a:pt x="636848" y="7867"/>
                  </a:lnTo>
                  <a:lnTo>
                    <a:pt x="681411" y="17456"/>
                  </a:lnTo>
                  <a:lnTo>
                    <a:pt x="724539" y="30599"/>
                  </a:lnTo>
                  <a:lnTo>
                    <a:pt x="766067" y="47132"/>
                  </a:lnTo>
                  <a:lnTo>
                    <a:pt x="805834" y="66892"/>
                  </a:lnTo>
                  <a:lnTo>
                    <a:pt x="843675" y="89716"/>
                  </a:lnTo>
                  <a:lnTo>
                    <a:pt x="879427" y="115442"/>
                  </a:lnTo>
                  <a:lnTo>
                    <a:pt x="912928" y="143907"/>
                  </a:lnTo>
                  <a:lnTo>
                    <a:pt x="944013" y="174946"/>
                  </a:lnTo>
                  <a:lnTo>
                    <a:pt x="972519" y="208398"/>
                  </a:lnTo>
                  <a:lnTo>
                    <a:pt x="998283" y="244100"/>
                  </a:lnTo>
                  <a:lnTo>
                    <a:pt x="1021141" y="281888"/>
                  </a:lnTo>
                  <a:lnTo>
                    <a:pt x="1040931" y="321599"/>
                  </a:lnTo>
                  <a:lnTo>
                    <a:pt x="1057489" y="363072"/>
                  </a:lnTo>
                  <a:lnTo>
                    <a:pt x="1070652" y="406141"/>
                  </a:lnTo>
                  <a:lnTo>
                    <a:pt x="1080256" y="450645"/>
                  </a:lnTo>
                  <a:lnTo>
                    <a:pt x="1086138" y="496421"/>
                  </a:lnTo>
                  <a:lnTo>
                    <a:pt x="1088136" y="543306"/>
                  </a:lnTo>
                  <a:lnTo>
                    <a:pt x="1086138" y="590190"/>
                  </a:lnTo>
                  <a:lnTo>
                    <a:pt x="1080256" y="635966"/>
                  </a:lnTo>
                  <a:lnTo>
                    <a:pt x="1070652" y="680470"/>
                  </a:lnTo>
                  <a:lnTo>
                    <a:pt x="1057489" y="723539"/>
                  </a:lnTo>
                  <a:lnTo>
                    <a:pt x="1040931" y="765012"/>
                  </a:lnTo>
                  <a:lnTo>
                    <a:pt x="1021141" y="804723"/>
                  </a:lnTo>
                  <a:lnTo>
                    <a:pt x="998283" y="842511"/>
                  </a:lnTo>
                  <a:lnTo>
                    <a:pt x="972519" y="878213"/>
                  </a:lnTo>
                  <a:lnTo>
                    <a:pt x="944013" y="911665"/>
                  </a:lnTo>
                  <a:lnTo>
                    <a:pt x="912928" y="942704"/>
                  </a:lnTo>
                  <a:lnTo>
                    <a:pt x="879427" y="971169"/>
                  </a:lnTo>
                  <a:lnTo>
                    <a:pt x="843675" y="996895"/>
                  </a:lnTo>
                  <a:lnTo>
                    <a:pt x="805834" y="1019719"/>
                  </a:lnTo>
                  <a:lnTo>
                    <a:pt x="766067" y="1039479"/>
                  </a:lnTo>
                  <a:lnTo>
                    <a:pt x="724539" y="1056012"/>
                  </a:lnTo>
                  <a:lnTo>
                    <a:pt x="681411" y="1069155"/>
                  </a:lnTo>
                  <a:lnTo>
                    <a:pt x="636848" y="1078744"/>
                  </a:lnTo>
                  <a:lnTo>
                    <a:pt x="591012" y="1084618"/>
                  </a:lnTo>
                  <a:lnTo>
                    <a:pt x="544067" y="1086612"/>
                  </a:lnTo>
                  <a:lnTo>
                    <a:pt x="497123" y="1084618"/>
                  </a:lnTo>
                  <a:lnTo>
                    <a:pt x="451287" y="1078744"/>
                  </a:lnTo>
                  <a:lnTo>
                    <a:pt x="406724" y="1069155"/>
                  </a:lnTo>
                  <a:lnTo>
                    <a:pt x="363596" y="1056012"/>
                  </a:lnTo>
                  <a:lnTo>
                    <a:pt x="322068" y="1039479"/>
                  </a:lnTo>
                  <a:lnTo>
                    <a:pt x="282301" y="1019719"/>
                  </a:lnTo>
                  <a:lnTo>
                    <a:pt x="244460" y="996895"/>
                  </a:lnTo>
                  <a:lnTo>
                    <a:pt x="208708" y="971169"/>
                  </a:lnTo>
                  <a:lnTo>
                    <a:pt x="175207" y="942704"/>
                  </a:lnTo>
                  <a:lnTo>
                    <a:pt x="144122" y="911665"/>
                  </a:lnTo>
                  <a:lnTo>
                    <a:pt x="115616" y="878213"/>
                  </a:lnTo>
                  <a:lnTo>
                    <a:pt x="89852" y="842511"/>
                  </a:lnTo>
                  <a:lnTo>
                    <a:pt x="66994" y="804723"/>
                  </a:lnTo>
                  <a:lnTo>
                    <a:pt x="47204" y="765012"/>
                  </a:lnTo>
                  <a:lnTo>
                    <a:pt x="30646" y="723539"/>
                  </a:lnTo>
                  <a:lnTo>
                    <a:pt x="17483" y="680470"/>
                  </a:lnTo>
                  <a:lnTo>
                    <a:pt x="7879" y="635966"/>
                  </a:lnTo>
                  <a:lnTo>
                    <a:pt x="1997" y="590190"/>
                  </a:lnTo>
                  <a:lnTo>
                    <a:pt x="0" y="543306"/>
                  </a:lnTo>
                  <a:close/>
                </a:path>
              </a:pathLst>
            </a:custGeom>
            <a:ln w="12192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xfrm>
            <a:off x="982345" y="2429001"/>
            <a:ext cx="10227310" cy="17434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062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Memaksimalkan</a:t>
            </a:r>
            <a:r>
              <a:rPr spc="10" dirty="0"/>
              <a:t> </a:t>
            </a:r>
            <a:r>
              <a:rPr spc="-5" dirty="0"/>
              <a:t>pengunaan</a:t>
            </a:r>
            <a:r>
              <a:rPr spc="35" dirty="0"/>
              <a:t> </a:t>
            </a:r>
            <a:r>
              <a:rPr spc="-15" dirty="0"/>
              <a:t>peralatan/fasilitas</a:t>
            </a:r>
            <a:r>
              <a:rPr spc="30" dirty="0"/>
              <a:t> </a:t>
            </a:r>
            <a:r>
              <a:rPr spc="-15" dirty="0"/>
              <a:t>secara</a:t>
            </a:r>
            <a:r>
              <a:rPr spc="-5" dirty="0"/>
              <a:t> </a:t>
            </a:r>
            <a:r>
              <a:rPr spc="-35" dirty="0"/>
              <a:t>efektif.</a:t>
            </a:r>
          </a:p>
          <a:p>
            <a:pPr marL="1137920">
              <a:lnSpc>
                <a:spcPct val="100000"/>
              </a:lnSpc>
            </a:pPr>
            <a:endParaRPr spc="-35" dirty="0"/>
          </a:p>
          <a:p>
            <a:pPr marL="1137920">
              <a:lnSpc>
                <a:spcPct val="100000"/>
              </a:lnSpc>
              <a:spcBef>
                <a:spcPts val="25"/>
              </a:spcBef>
            </a:pPr>
            <a:endParaRPr sz="2850" dirty="0"/>
          </a:p>
          <a:p>
            <a:pPr marL="1466850">
              <a:lnSpc>
                <a:spcPct val="100000"/>
              </a:lnSpc>
            </a:pPr>
            <a:r>
              <a:rPr spc="-30" dirty="0"/>
              <a:t>Perawatan</a:t>
            </a:r>
            <a:r>
              <a:rPr dirty="0"/>
              <a:t> </a:t>
            </a:r>
            <a:r>
              <a:rPr spc="-15" dirty="0"/>
              <a:t>secara</a:t>
            </a:r>
            <a:r>
              <a:rPr spc="5" dirty="0"/>
              <a:t> </a:t>
            </a:r>
            <a:r>
              <a:rPr spc="-10" dirty="0"/>
              <a:t>otomatis</a:t>
            </a:r>
            <a:r>
              <a:rPr spc="5" dirty="0"/>
              <a:t> </a:t>
            </a:r>
            <a:r>
              <a:rPr spc="-5" dirty="0" err="1"/>
              <a:t>oleh</a:t>
            </a:r>
            <a:r>
              <a:rPr spc="5" dirty="0"/>
              <a:t> </a:t>
            </a:r>
            <a:r>
              <a:rPr spc="-45" dirty="0" smtClean="0"/>
              <a:t>operator.</a:t>
            </a:r>
            <a:endParaRPr spc="-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93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Prinsip-prinsip</a:t>
            </a:r>
            <a:r>
              <a:rPr spc="-55" dirty="0"/>
              <a:t> </a:t>
            </a:r>
            <a:r>
              <a:rPr spc="-5" dirty="0"/>
              <a:t>TPM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076180" cy="364997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22555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Meningkatkan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efektifitas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efisiensi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peralatan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secara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menyeluruh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dengan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Overall</a:t>
            </a:r>
            <a:r>
              <a:rPr sz="2800" spc="-15" dirty="0">
                <a:latin typeface="Calibri"/>
                <a:cs typeface="Calibri"/>
              </a:rPr>
              <a:t> Equipment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Effectiveness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(OEE)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Memperbaiki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sistem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perawatan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secara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terencana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Memfungsikan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operator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sebagai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pemantau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baik</a:t>
            </a:r>
            <a:endParaRPr sz="2800">
              <a:latin typeface="Calibri"/>
              <a:cs typeface="Calibri"/>
            </a:endParaRPr>
          </a:p>
          <a:p>
            <a:pPr marL="241300" marR="1403985" indent="-228600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Melaksanakan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pelatihan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untuk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meningkatkan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kemampuan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operasional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kualitas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perawatan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Membangun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keterlibatan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setiap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orang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menggunakan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kerjasama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lintas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fungsi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413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Budaya</a:t>
            </a:r>
            <a:r>
              <a:rPr spc="-35" dirty="0"/>
              <a:t> </a:t>
            </a:r>
            <a:r>
              <a:rPr spc="-20" dirty="0"/>
              <a:t>Kerja</a:t>
            </a:r>
            <a:r>
              <a:rPr spc="-10" dirty="0"/>
              <a:t> </a:t>
            </a:r>
            <a:r>
              <a:rPr dirty="0"/>
              <a:t>5S</a:t>
            </a:r>
            <a:r>
              <a:rPr spc="-10" dirty="0"/>
              <a:t> </a:t>
            </a:r>
            <a:r>
              <a:rPr dirty="0"/>
              <a:t>/</a:t>
            </a:r>
            <a:r>
              <a:rPr spc="-15" dirty="0"/>
              <a:t> </a:t>
            </a:r>
            <a:r>
              <a:rPr dirty="0"/>
              <a:t>5P</a:t>
            </a:r>
            <a:r>
              <a:rPr spc="-20" dirty="0"/>
              <a:t> </a:t>
            </a:r>
            <a:r>
              <a:rPr dirty="0"/>
              <a:t>/</a:t>
            </a:r>
            <a:r>
              <a:rPr spc="-15" dirty="0"/>
              <a:t> </a:t>
            </a:r>
            <a:r>
              <a:rPr dirty="0"/>
              <a:t>5R</a:t>
            </a:r>
          </a:p>
        </p:txBody>
      </p:sp>
      <p:sp>
        <p:nvSpPr>
          <p:cNvPr id="3" name="object 3"/>
          <p:cNvSpPr/>
          <p:nvPr/>
        </p:nvSpPr>
        <p:spPr>
          <a:xfrm>
            <a:off x="2764535" y="1562100"/>
            <a:ext cx="3037840" cy="935990"/>
          </a:xfrm>
          <a:custGeom>
            <a:avLst/>
            <a:gdLst/>
            <a:ahLst/>
            <a:cxnLst/>
            <a:rect l="l" t="t" r="r" b="b"/>
            <a:pathLst>
              <a:path w="3037840" h="935989">
                <a:moveTo>
                  <a:pt x="2569464" y="0"/>
                </a:moveTo>
                <a:lnTo>
                  <a:pt x="0" y="0"/>
                </a:lnTo>
                <a:lnTo>
                  <a:pt x="467868" y="467867"/>
                </a:lnTo>
                <a:lnTo>
                  <a:pt x="0" y="935736"/>
                </a:lnTo>
                <a:lnTo>
                  <a:pt x="2569464" y="935736"/>
                </a:lnTo>
                <a:lnTo>
                  <a:pt x="3037331" y="467867"/>
                </a:lnTo>
                <a:lnTo>
                  <a:pt x="2569464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48227" y="1653286"/>
            <a:ext cx="920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Seiri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92241" y="1634998"/>
            <a:ext cx="2555240" cy="789940"/>
            <a:chOff x="5492241" y="1634998"/>
            <a:chExt cx="2555240" cy="789940"/>
          </a:xfrm>
        </p:grpSpPr>
        <p:sp>
          <p:nvSpPr>
            <p:cNvPr id="6" name="object 6"/>
            <p:cNvSpPr/>
            <p:nvPr/>
          </p:nvSpPr>
          <p:spPr>
            <a:xfrm>
              <a:off x="5498591" y="1641348"/>
              <a:ext cx="2542540" cy="777240"/>
            </a:xfrm>
            <a:custGeom>
              <a:avLst/>
              <a:gdLst/>
              <a:ahLst/>
              <a:cxnLst/>
              <a:rect l="l" t="t" r="r" b="b"/>
              <a:pathLst>
                <a:path w="2542540" h="777239">
                  <a:moveTo>
                    <a:pt x="2153412" y="0"/>
                  </a:moveTo>
                  <a:lnTo>
                    <a:pt x="0" y="0"/>
                  </a:lnTo>
                  <a:lnTo>
                    <a:pt x="388620" y="388619"/>
                  </a:lnTo>
                  <a:lnTo>
                    <a:pt x="0" y="777239"/>
                  </a:lnTo>
                  <a:lnTo>
                    <a:pt x="2153412" y="777239"/>
                  </a:lnTo>
                  <a:lnTo>
                    <a:pt x="2542032" y="388619"/>
                  </a:lnTo>
                  <a:lnTo>
                    <a:pt x="2153412" y="0"/>
                  </a:lnTo>
                  <a:close/>
                </a:path>
              </a:pathLst>
            </a:custGeom>
            <a:solidFill>
              <a:srgbClr val="F8D6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98591" y="1641348"/>
              <a:ext cx="2542540" cy="777240"/>
            </a:xfrm>
            <a:custGeom>
              <a:avLst/>
              <a:gdLst/>
              <a:ahLst/>
              <a:cxnLst/>
              <a:rect l="l" t="t" r="r" b="b"/>
              <a:pathLst>
                <a:path w="2542540" h="777239">
                  <a:moveTo>
                    <a:pt x="0" y="0"/>
                  </a:moveTo>
                  <a:lnTo>
                    <a:pt x="2153412" y="0"/>
                  </a:lnTo>
                  <a:lnTo>
                    <a:pt x="2542032" y="388619"/>
                  </a:lnTo>
                  <a:lnTo>
                    <a:pt x="2153412" y="777239"/>
                  </a:lnTo>
                  <a:lnTo>
                    <a:pt x="0" y="777239"/>
                  </a:lnTo>
                  <a:lnTo>
                    <a:pt x="388620" y="38861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F8D6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8097" y="1798446"/>
            <a:ext cx="1334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pemilahan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63256" y="1635251"/>
            <a:ext cx="1952625" cy="789940"/>
            <a:chOff x="7763256" y="1635251"/>
            <a:chExt cx="1952625" cy="789940"/>
          </a:xfrm>
        </p:grpSpPr>
        <p:sp>
          <p:nvSpPr>
            <p:cNvPr id="10" name="object 10"/>
            <p:cNvSpPr/>
            <p:nvPr/>
          </p:nvSpPr>
          <p:spPr>
            <a:xfrm>
              <a:off x="7769352" y="1641347"/>
              <a:ext cx="1940560" cy="777240"/>
            </a:xfrm>
            <a:custGeom>
              <a:avLst/>
              <a:gdLst/>
              <a:ahLst/>
              <a:cxnLst/>
              <a:rect l="l" t="t" r="r" b="b"/>
              <a:pathLst>
                <a:path w="1940559" h="777239">
                  <a:moveTo>
                    <a:pt x="1551431" y="0"/>
                  </a:moveTo>
                  <a:lnTo>
                    <a:pt x="0" y="0"/>
                  </a:lnTo>
                  <a:lnTo>
                    <a:pt x="388620" y="388619"/>
                  </a:lnTo>
                  <a:lnTo>
                    <a:pt x="0" y="777239"/>
                  </a:lnTo>
                  <a:lnTo>
                    <a:pt x="1551431" y="777239"/>
                  </a:lnTo>
                  <a:lnTo>
                    <a:pt x="1940052" y="388619"/>
                  </a:lnTo>
                  <a:lnTo>
                    <a:pt x="1551431" y="0"/>
                  </a:lnTo>
                  <a:close/>
                </a:path>
              </a:pathLst>
            </a:custGeom>
            <a:solidFill>
              <a:srgbClr val="E0E0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69352" y="1641347"/>
              <a:ext cx="1940560" cy="777240"/>
            </a:xfrm>
            <a:custGeom>
              <a:avLst/>
              <a:gdLst/>
              <a:ahLst/>
              <a:cxnLst/>
              <a:rect l="l" t="t" r="r" b="b"/>
              <a:pathLst>
                <a:path w="1940559" h="777239">
                  <a:moveTo>
                    <a:pt x="0" y="0"/>
                  </a:moveTo>
                  <a:lnTo>
                    <a:pt x="1551431" y="0"/>
                  </a:lnTo>
                  <a:lnTo>
                    <a:pt x="1940052" y="388619"/>
                  </a:lnTo>
                  <a:lnTo>
                    <a:pt x="1551431" y="777239"/>
                  </a:lnTo>
                  <a:lnTo>
                    <a:pt x="0" y="777239"/>
                  </a:lnTo>
                  <a:lnTo>
                    <a:pt x="388620" y="38861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74177" y="1798446"/>
            <a:ext cx="964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Ring</a:t>
            </a:r>
            <a:r>
              <a:rPr sz="2400" spc="-3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64535" y="2628900"/>
            <a:ext cx="3037840" cy="934719"/>
          </a:xfrm>
          <a:custGeom>
            <a:avLst/>
            <a:gdLst/>
            <a:ahLst/>
            <a:cxnLst/>
            <a:rect l="l" t="t" r="r" b="b"/>
            <a:pathLst>
              <a:path w="3037840" h="934720">
                <a:moveTo>
                  <a:pt x="2570226" y="0"/>
                </a:moveTo>
                <a:lnTo>
                  <a:pt x="0" y="0"/>
                </a:lnTo>
                <a:lnTo>
                  <a:pt x="467106" y="467105"/>
                </a:lnTo>
                <a:lnTo>
                  <a:pt x="0" y="934212"/>
                </a:lnTo>
                <a:lnTo>
                  <a:pt x="2570226" y="934212"/>
                </a:lnTo>
                <a:lnTo>
                  <a:pt x="3037331" y="467105"/>
                </a:lnTo>
                <a:lnTo>
                  <a:pt x="2570226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44010" y="2719577"/>
            <a:ext cx="1326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Sei</a:t>
            </a:r>
            <a:r>
              <a:rPr sz="4000" spc="-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92241" y="2701798"/>
            <a:ext cx="2555240" cy="788670"/>
            <a:chOff x="5492241" y="2701798"/>
            <a:chExt cx="2555240" cy="788670"/>
          </a:xfrm>
        </p:grpSpPr>
        <p:sp>
          <p:nvSpPr>
            <p:cNvPr id="16" name="object 16"/>
            <p:cNvSpPr/>
            <p:nvPr/>
          </p:nvSpPr>
          <p:spPr>
            <a:xfrm>
              <a:off x="5498591" y="2708148"/>
              <a:ext cx="2542540" cy="775970"/>
            </a:xfrm>
            <a:custGeom>
              <a:avLst/>
              <a:gdLst/>
              <a:ahLst/>
              <a:cxnLst/>
              <a:rect l="l" t="t" r="r" b="b"/>
              <a:pathLst>
                <a:path w="2542540" h="775970">
                  <a:moveTo>
                    <a:pt x="2154174" y="0"/>
                  </a:moveTo>
                  <a:lnTo>
                    <a:pt x="0" y="0"/>
                  </a:lnTo>
                  <a:lnTo>
                    <a:pt x="387858" y="387857"/>
                  </a:lnTo>
                  <a:lnTo>
                    <a:pt x="0" y="775715"/>
                  </a:lnTo>
                  <a:lnTo>
                    <a:pt x="2154174" y="775715"/>
                  </a:lnTo>
                  <a:lnTo>
                    <a:pt x="2542032" y="387857"/>
                  </a:lnTo>
                  <a:lnTo>
                    <a:pt x="2154174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98591" y="2708148"/>
              <a:ext cx="2542540" cy="775970"/>
            </a:xfrm>
            <a:custGeom>
              <a:avLst/>
              <a:gdLst/>
              <a:ahLst/>
              <a:cxnLst/>
              <a:rect l="l" t="t" r="r" b="b"/>
              <a:pathLst>
                <a:path w="2542540" h="775970">
                  <a:moveTo>
                    <a:pt x="0" y="0"/>
                  </a:moveTo>
                  <a:lnTo>
                    <a:pt x="2154174" y="0"/>
                  </a:lnTo>
                  <a:lnTo>
                    <a:pt x="2542032" y="387857"/>
                  </a:lnTo>
                  <a:lnTo>
                    <a:pt x="2154174" y="775715"/>
                  </a:lnTo>
                  <a:lnTo>
                    <a:pt x="0" y="775715"/>
                  </a:lnTo>
                  <a:lnTo>
                    <a:pt x="387858" y="387857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89345" y="2864611"/>
            <a:ext cx="1194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penataan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763256" y="2702051"/>
            <a:ext cx="1952625" cy="788035"/>
            <a:chOff x="7763256" y="2702051"/>
            <a:chExt cx="1952625" cy="788035"/>
          </a:xfrm>
        </p:grpSpPr>
        <p:sp>
          <p:nvSpPr>
            <p:cNvPr id="20" name="object 20"/>
            <p:cNvSpPr/>
            <p:nvPr/>
          </p:nvSpPr>
          <p:spPr>
            <a:xfrm>
              <a:off x="7769352" y="2708147"/>
              <a:ext cx="1940560" cy="775970"/>
            </a:xfrm>
            <a:custGeom>
              <a:avLst/>
              <a:gdLst/>
              <a:ahLst/>
              <a:cxnLst/>
              <a:rect l="l" t="t" r="r" b="b"/>
              <a:pathLst>
                <a:path w="1940559" h="775970">
                  <a:moveTo>
                    <a:pt x="1552194" y="0"/>
                  </a:moveTo>
                  <a:lnTo>
                    <a:pt x="0" y="0"/>
                  </a:lnTo>
                  <a:lnTo>
                    <a:pt x="387857" y="387857"/>
                  </a:lnTo>
                  <a:lnTo>
                    <a:pt x="0" y="775715"/>
                  </a:lnTo>
                  <a:lnTo>
                    <a:pt x="1552194" y="775715"/>
                  </a:lnTo>
                  <a:lnTo>
                    <a:pt x="1940052" y="387857"/>
                  </a:lnTo>
                  <a:lnTo>
                    <a:pt x="1552194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69352" y="2708147"/>
              <a:ext cx="1940560" cy="775970"/>
            </a:xfrm>
            <a:custGeom>
              <a:avLst/>
              <a:gdLst/>
              <a:ahLst/>
              <a:cxnLst/>
              <a:rect l="l" t="t" r="r" b="b"/>
              <a:pathLst>
                <a:path w="1940559" h="775970">
                  <a:moveTo>
                    <a:pt x="0" y="0"/>
                  </a:moveTo>
                  <a:lnTo>
                    <a:pt x="1552194" y="0"/>
                  </a:lnTo>
                  <a:lnTo>
                    <a:pt x="1940052" y="387857"/>
                  </a:lnTo>
                  <a:lnTo>
                    <a:pt x="1552194" y="775715"/>
                  </a:lnTo>
                  <a:lnTo>
                    <a:pt x="0" y="775715"/>
                  </a:lnTo>
                  <a:lnTo>
                    <a:pt x="387857" y="387857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72296" y="2864611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Ra</a:t>
            </a:r>
            <a:r>
              <a:rPr sz="2400" spc="-5" dirty="0">
                <a:latin typeface="Calibri"/>
                <a:cs typeface="Calibri"/>
              </a:rPr>
              <a:t>pi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64535" y="3694176"/>
            <a:ext cx="3037840" cy="935990"/>
          </a:xfrm>
          <a:custGeom>
            <a:avLst/>
            <a:gdLst/>
            <a:ahLst/>
            <a:cxnLst/>
            <a:rect l="l" t="t" r="r" b="b"/>
            <a:pathLst>
              <a:path w="3037840" h="935989">
                <a:moveTo>
                  <a:pt x="2569464" y="0"/>
                </a:moveTo>
                <a:lnTo>
                  <a:pt x="0" y="0"/>
                </a:lnTo>
                <a:lnTo>
                  <a:pt x="467868" y="467868"/>
                </a:lnTo>
                <a:lnTo>
                  <a:pt x="0" y="935736"/>
                </a:lnTo>
                <a:lnTo>
                  <a:pt x="2569464" y="935736"/>
                </a:lnTo>
                <a:lnTo>
                  <a:pt x="3037331" y="467868"/>
                </a:lnTo>
                <a:lnTo>
                  <a:pt x="256946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761359" y="3785742"/>
            <a:ext cx="10928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Seiso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92241" y="3767073"/>
            <a:ext cx="2555240" cy="789940"/>
            <a:chOff x="5492241" y="3767073"/>
            <a:chExt cx="2555240" cy="789940"/>
          </a:xfrm>
        </p:grpSpPr>
        <p:sp>
          <p:nvSpPr>
            <p:cNvPr id="26" name="object 26"/>
            <p:cNvSpPr/>
            <p:nvPr/>
          </p:nvSpPr>
          <p:spPr>
            <a:xfrm>
              <a:off x="5498591" y="3773423"/>
              <a:ext cx="2542540" cy="777240"/>
            </a:xfrm>
            <a:custGeom>
              <a:avLst/>
              <a:gdLst/>
              <a:ahLst/>
              <a:cxnLst/>
              <a:rect l="l" t="t" r="r" b="b"/>
              <a:pathLst>
                <a:path w="2542540" h="777239">
                  <a:moveTo>
                    <a:pt x="2153412" y="0"/>
                  </a:moveTo>
                  <a:lnTo>
                    <a:pt x="0" y="0"/>
                  </a:lnTo>
                  <a:lnTo>
                    <a:pt x="388620" y="388619"/>
                  </a:lnTo>
                  <a:lnTo>
                    <a:pt x="0" y="777239"/>
                  </a:lnTo>
                  <a:lnTo>
                    <a:pt x="2153412" y="777239"/>
                  </a:lnTo>
                  <a:lnTo>
                    <a:pt x="2542032" y="388619"/>
                  </a:lnTo>
                  <a:lnTo>
                    <a:pt x="2153412" y="0"/>
                  </a:lnTo>
                  <a:close/>
                </a:path>
              </a:pathLst>
            </a:custGeom>
            <a:solidFill>
              <a:srgbClr val="D4E2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98591" y="3773423"/>
              <a:ext cx="2542540" cy="777240"/>
            </a:xfrm>
            <a:custGeom>
              <a:avLst/>
              <a:gdLst/>
              <a:ahLst/>
              <a:cxnLst/>
              <a:rect l="l" t="t" r="r" b="b"/>
              <a:pathLst>
                <a:path w="2542540" h="777239">
                  <a:moveTo>
                    <a:pt x="0" y="0"/>
                  </a:moveTo>
                  <a:lnTo>
                    <a:pt x="2153412" y="0"/>
                  </a:lnTo>
                  <a:lnTo>
                    <a:pt x="2542032" y="388619"/>
                  </a:lnTo>
                  <a:lnTo>
                    <a:pt x="2153412" y="777239"/>
                  </a:lnTo>
                  <a:lnTo>
                    <a:pt x="0" y="777239"/>
                  </a:lnTo>
                  <a:lnTo>
                    <a:pt x="388620" y="38861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D4E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959221" y="3930777"/>
            <a:ext cx="16503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pembersihan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763256" y="3767328"/>
            <a:ext cx="1952625" cy="789940"/>
            <a:chOff x="7763256" y="3767328"/>
            <a:chExt cx="1952625" cy="789940"/>
          </a:xfrm>
        </p:grpSpPr>
        <p:sp>
          <p:nvSpPr>
            <p:cNvPr id="30" name="object 30"/>
            <p:cNvSpPr/>
            <p:nvPr/>
          </p:nvSpPr>
          <p:spPr>
            <a:xfrm>
              <a:off x="7769352" y="3773424"/>
              <a:ext cx="1940560" cy="777240"/>
            </a:xfrm>
            <a:custGeom>
              <a:avLst/>
              <a:gdLst/>
              <a:ahLst/>
              <a:cxnLst/>
              <a:rect l="l" t="t" r="r" b="b"/>
              <a:pathLst>
                <a:path w="1940559" h="777239">
                  <a:moveTo>
                    <a:pt x="1551431" y="0"/>
                  </a:moveTo>
                  <a:lnTo>
                    <a:pt x="0" y="0"/>
                  </a:lnTo>
                  <a:lnTo>
                    <a:pt x="388620" y="388619"/>
                  </a:lnTo>
                  <a:lnTo>
                    <a:pt x="0" y="777239"/>
                  </a:lnTo>
                  <a:lnTo>
                    <a:pt x="1551431" y="777239"/>
                  </a:lnTo>
                  <a:lnTo>
                    <a:pt x="1940052" y="388619"/>
                  </a:lnTo>
                  <a:lnTo>
                    <a:pt x="1551431" y="0"/>
                  </a:lnTo>
                  <a:close/>
                </a:path>
              </a:pathLst>
            </a:custGeom>
            <a:solidFill>
              <a:srgbClr val="F8D6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69352" y="3773424"/>
              <a:ext cx="1940560" cy="777240"/>
            </a:xfrm>
            <a:custGeom>
              <a:avLst/>
              <a:gdLst/>
              <a:ahLst/>
              <a:cxnLst/>
              <a:rect l="l" t="t" r="r" b="b"/>
              <a:pathLst>
                <a:path w="1940559" h="777239">
                  <a:moveTo>
                    <a:pt x="0" y="0"/>
                  </a:moveTo>
                  <a:lnTo>
                    <a:pt x="1551431" y="0"/>
                  </a:lnTo>
                  <a:lnTo>
                    <a:pt x="1940052" y="388619"/>
                  </a:lnTo>
                  <a:lnTo>
                    <a:pt x="1551431" y="777239"/>
                  </a:lnTo>
                  <a:lnTo>
                    <a:pt x="0" y="777239"/>
                  </a:lnTo>
                  <a:lnTo>
                    <a:pt x="388620" y="388619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F8D6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422005" y="3930777"/>
            <a:ext cx="667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esik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764535" y="4760976"/>
            <a:ext cx="3037840" cy="934719"/>
          </a:xfrm>
          <a:custGeom>
            <a:avLst/>
            <a:gdLst/>
            <a:ahLst/>
            <a:cxnLst/>
            <a:rect l="l" t="t" r="r" b="b"/>
            <a:pathLst>
              <a:path w="3037840" h="934720">
                <a:moveTo>
                  <a:pt x="2570226" y="0"/>
                </a:moveTo>
                <a:lnTo>
                  <a:pt x="0" y="0"/>
                </a:lnTo>
                <a:lnTo>
                  <a:pt x="467106" y="467106"/>
                </a:lnTo>
                <a:lnTo>
                  <a:pt x="0" y="934212"/>
                </a:lnTo>
                <a:lnTo>
                  <a:pt x="2570226" y="934212"/>
                </a:lnTo>
                <a:lnTo>
                  <a:pt x="3037331" y="467106"/>
                </a:lnTo>
                <a:lnTo>
                  <a:pt x="257022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445509" y="4851908"/>
            <a:ext cx="1725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Sei</a:t>
            </a:r>
            <a:r>
              <a:rPr sz="4000" spc="-14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tsu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492241" y="4833873"/>
            <a:ext cx="2555240" cy="788670"/>
            <a:chOff x="5492241" y="4833873"/>
            <a:chExt cx="2555240" cy="788670"/>
          </a:xfrm>
        </p:grpSpPr>
        <p:sp>
          <p:nvSpPr>
            <p:cNvPr id="36" name="object 36"/>
            <p:cNvSpPr/>
            <p:nvPr/>
          </p:nvSpPr>
          <p:spPr>
            <a:xfrm>
              <a:off x="5498591" y="4840223"/>
              <a:ext cx="2542540" cy="775970"/>
            </a:xfrm>
            <a:custGeom>
              <a:avLst/>
              <a:gdLst/>
              <a:ahLst/>
              <a:cxnLst/>
              <a:rect l="l" t="t" r="r" b="b"/>
              <a:pathLst>
                <a:path w="2542540" h="775970">
                  <a:moveTo>
                    <a:pt x="2154174" y="0"/>
                  </a:moveTo>
                  <a:lnTo>
                    <a:pt x="0" y="0"/>
                  </a:lnTo>
                  <a:lnTo>
                    <a:pt x="387858" y="387857"/>
                  </a:lnTo>
                  <a:lnTo>
                    <a:pt x="0" y="775716"/>
                  </a:lnTo>
                  <a:lnTo>
                    <a:pt x="2154174" y="775716"/>
                  </a:lnTo>
                  <a:lnTo>
                    <a:pt x="2542032" y="387857"/>
                  </a:lnTo>
                  <a:lnTo>
                    <a:pt x="2154174" y="0"/>
                  </a:lnTo>
                  <a:close/>
                </a:path>
              </a:pathLst>
            </a:custGeom>
            <a:solidFill>
              <a:srgbClr val="E0E0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98591" y="4840223"/>
              <a:ext cx="2542540" cy="775970"/>
            </a:xfrm>
            <a:custGeom>
              <a:avLst/>
              <a:gdLst/>
              <a:ahLst/>
              <a:cxnLst/>
              <a:rect l="l" t="t" r="r" b="b"/>
              <a:pathLst>
                <a:path w="2542540" h="775970">
                  <a:moveTo>
                    <a:pt x="0" y="0"/>
                  </a:moveTo>
                  <a:lnTo>
                    <a:pt x="2154174" y="0"/>
                  </a:lnTo>
                  <a:lnTo>
                    <a:pt x="2542032" y="387857"/>
                  </a:lnTo>
                  <a:lnTo>
                    <a:pt x="2154174" y="775716"/>
                  </a:lnTo>
                  <a:lnTo>
                    <a:pt x="0" y="775716"/>
                  </a:lnTo>
                  <a:lnTo>
                    <a:pt x="387858" y="387857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986653" y="4996941"/>
            <a:ext cx="1595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pemantapan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763256" y="4834128"/>
            <a:ext cx="1952625" cy="788035"/>
            <a:chOff x="7763256" y="4834128"/>
            <a:chExt cx="1952625" cy="788035"/>
          </a:xfrm>
        </p:grpSpPr>
        <p:sp>
          <p:nvSpPr>
            <p:cNvPr id="40" name="object 40"/>
            <p:cNvSpPr/>
            <p:nvPr/>
          </p:nvSpPr>
          <p:spPr>
            <a:xfrm>
              <a:off x="7769352" y="4840224"/>
              <a:ext cx="1940560" cy="775970"/>
            </a:xfrm>
            <a:custGeom>
              <a:avLst/>
              <a:gdLst/>
              <a:ahLst/>
              <a:cxnLst/>
              <a:rect l="l" t="t" r="r" b="b"/>
              <a:pathLst>
                <a:path w="1940559" h="775970">
                  <a:moveTo>
                    <a:pt x="1552194" y="0"/>
                  </a:moveTo>
                  <a:lnTo>
                    <a:pt x="0" y="0"/>
                  </a:lnTo>
                  <a:lnTo>
                    <a:pt x="387857" y="387857"/>
                  </a:lnTo>
                  <a:lnTo>
                    <a:pt x="0" y="775716"/>
                  </a:lnTo>
                  <a:lnTo>
                    <a:pt x="1552194" y="775716"/>
                  </a:lnTo>
                  <a:lnTo>
                    <a:pt x="1940052" y="387857"/>
                  </a:lnTo>
                  <a:lnTo>
                    <a:pt x="1552194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69352" y="4840224"/>
              <a:ext cx="1940560" cy="775970"/>
            </a:xfrm>
            <a:custGeom>
              <a:avLst/>
              <a:gdLst/>
              <a:ahLst/>
              <a:cxnLst/>
              <a:rect l="l" t="t" r="r" b="b"/>
              <a:pathLst>
                <a:path w="1940559" h="775970">
                  <a:moveTo>
                    <a:pt x="0" y="0"/>
                  </a:moveTo>
                  <a:lnTo>
                    <a:pt x="1552194" y="0"/>
                  </a:lnTo>
                  <a:lnTo>
                    <a:pt x="1940052" y="387857"/>
                  </a:lnTo>
                  <a:lnTo>
                    <a:pt x="1552194" y="775716"/>
                  </a:lnTo>
                  <a:lnTo>
                    <a:pt x="0" y="775716"/>
                  </a:lnTo>
                  <a:lnTo>
                    <a:pt x="387857" y="387857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57996" y="4996941"/>
            <a:ext cx="796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Ra</a:t>
            </a:r>
            <a:r>
              <a:rPr sz="2400" spc="-30" dirty="0">
                <a:latin typeface="Calibri"/>
                <a:cs typeface="Calibri"/>
              </a:rPr>
              <a:t>w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764535" y="5826252"/>
            <a:ext cx="3037840" cy="935990"/>
          </a:xfrm>
          <a:custGeom>
            <a:avLst/>
            <a:gdLst/>
            <a:ahLst/>
            <a:cxnLst/>
            <a:rect l="l" t="t" r="r" b="b"/>
            <a:pathLst>
              <a:path w="3037840" h="935990">
                <a:moveTo>
                  <a:pt x="2569464" y="0"/>
                </a:moveTo>
                <a:lnTo>
                  <a:pt x="0" y="0"/>
                </a:lnTo>
                <a:lnTo>
                  <a:pt x="467868" y="467868"/>
                </a:lnTo>
                <a:lnTo>
                  <a:pt x="0" y="935734"/>
                </a:lnTo>
                <a:lnTo>
                  <a:pt x="2569464" y="935734"/>
                </a:lnTo>
                <a:lnTo>
                  <a:pt x="3037331" y="467868"/>
                </a:lnTo>
                <a:lnTo>
                  <a:pt x="2569464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436365" y="5917793"/>
            <a:ext cx="17418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Shitsuke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492241" y="5899150"/>
            <a:ext cx="2555240" cy="788670"/>
            <a:chOff x="5492241" y="5899150"/>
            <a:chExt cx="2555240" cy="788670"/>
          </a:xfrm>
        </p:grpSpPr>
        <p:sp>
          <p:nvSpPr>
            <p:cNvPr id="46" name="object 46"/>
            <p:cNvSpPr/>
            <p:nvPr/>
          </p:nvSpPr>
          <p:spPr>
            <a:xfrm>
              <a:off x="5498591" y="5905500"/>
              <a:ext cx="2542540" cy="775970"/>
            </a:xfrm>
            <a:custGeom>
              <a:avLst/>
              <a:gdLst/>
              <a:ahLst/>
              <a:cxnLst/>
              <a:rect l="l" t="t" r="r" b="b"/>
              <a:pathLst>
                <a:path w="2542540" h="775970">
                  <a:moveTo>
                    <a:pt x="2154174" y="0"/>
                  </a:moveTo>
                  <a:lnTo>
                    <a:pt x="0" y="0"/>
                  </a:lnTo>
                  <a:lnTo>
                    <a:pt x="387858" y="387858"/>
                  </a:lnTo>
                  <a:lnTo>
                    <a:pt x="0" y="775716"/>
                  </a:lnTo>
                  <a:lnTo>
                    <a:pt x="2154174" y="775716"/>
                  </a:lnTo>
                  <a:lnTo>
                    <a:pt x="2542032" y="387858"/>
                  </a:lnTo>
                  <a:lnTo>
                    <a:pt x="2154174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498591" y="5905500"/>
              <a:ext cx="2542540" cy="775970"/>
            </a:xfrm>
            <a:custGeom>
              <a:avLst/>
              <a:gdLst/>
              <a:ahLst/>
              <a:cxnLst/>
              <a:rect l="l" t="t" r="r" b="b"/>
              <a:pathLst>
                <a:path w="2542540" h="775970">
                  <a:moveTo>
                    <a:pt x="0" y="0"/>
                  </a:moveTo>
                  <a:lnTo>
                    <a:pt x="2154174" y="0"/>
                  </a:lnTo>
                  <a:lnTo>
                    <a:pt x="2542032" y="387858"/>
                  </a:lnTo>
                  <a:lnTo>
                    <a:pt x="2154174" y="775716"/>
                  </a:lnTo>
                  <a:lnTo>
                    <a:pt x="0" y="775716"/>
                  </a:lnTo>
                  <a:lnTo>
                    <a:pt x="387858" y="387858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020180" y="6062878"/>
            <a:ext cx="15309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pembiasaan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763256" y="5899403"/>
            <a:ext cx="1952625" cy="788035"/>
            <a:chOff x="7763256" y="5899403"/>
            <a:chExt cx="1952625" cy="788035"/>
          </a:xfrm>
        </p:grpSpPr>
        <p:sp>
          <p:nvSpPr>
            <p:cNvPr id="50" name="object 50"/>
            <p:cNvSpPr/>
            <p:nvPr/>
          </p:nvSpPr>
          <p:spPr>
            <a:xfrm>
              <a:off x="7769352" y="5905499"/>
              <a:ext cx="1940560" cy="775970"/>
            </a:xfrm>
            <a:custGeom>
              <a:avLst/>
              <a:gdLst/>
              <a:ahLst/>
              <a:cxnLst/>
              <a:rect l="l" t="t" r="r" b="b"/>
              <a:pathLst>
                <a:path w="1940559" h="775970">
                  <a:moveTo>
                    <a:pt x="1552194" y="0"/>
                  </a:moveTo>
                  <a:lnTo>
                    <a:pt x="0" y="0"/>
                  </a:lnTo>
                  <a:lnTo>
                    <a:pt x="387857" y="387858"/>
                  </a:lnTo>
                  <a:lnTo>
                    <a:pt x="0" y="775716"/>
                  </a:lnTo>
                  <a:lnTo>
                    <a:pt x="1552194" y="775716"/>
                  </a:lnTo>
                  <a:lnTo>
                    <a:pt x="1940052" y="387858"/>
                  </a:lnTo>
                  <a:lnTo>
                    <a:pt x="1552194" y="0"/>
                  </a:lnTo>
                  <a:close/>
                </a:path>
              </a:pathLst>
            </a:custGeom>
            <a:solidFill>
              <a:srgbClr val="D4E2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69352" y="5905499"/>
              <a:ext cx="1940560" cy="775970"/>
            </a:xfrm>
            <a:custGeom>
              <a:avLst/>
              <a:gdLst/>
              <a:ahLst/>
              <a:cxnLst/>
              <a:rect l="l" t="t" r="r" b="b"/>
              <a:pathLst>
                <a:path w="1940559" h="775970">
                  <a:moveTo>
                    <a:pt x="0" y="0"/>
                  </a:moveTo>
                  <a:lnTo>
                    <a:pt x="1552194" y="0"/>
                  </a:lnTo>
                  <a:lnTo>
                    <a:pt x="1940052" y="387858"/>
                  </a:lnTo>
                  <a:lnTo>
                    <a:pt x="1552194" y="775716"/>
                  </a:lnTo>
                  <a:lnTo>
                    <a:pt x="0" y="775716"/>
                  </a:lnTo>
                  <a:lnTo>
                    <a:pt x="387857" y="387858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D4E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435720" y="6062878"/>
            <a:ext cx="640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Rajin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432" y="609676"/>
            <a:ext cx="379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Pilar</a:t>
            </a:r>
            <a:r>
              <a:rPr spc="-30" dirty="0"/>
              <a:t> </a:t>
            </a:r>
            <a:r>
              <a:rPr spc="-10" dirty="0"/>
              <a:t>Utama</a:t>
            </a:r>
            <a:r>
              <a:rPr spc="-50" dirty="0"/>
              <a:t> </a:t>
            </a:r>
            <a:r>
              <a:rPr spc="-5" dirty="0"/>
              <a:t>TPM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877567"/>
            <a:ext cx="10523220" cy="4861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2414016"/>
            <a:ext cx="10523220" cy="4876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2951988"/>
            <a:ext cx="10523220" cy="4876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627" y="3488435"/>
            <a:ext cx="10523220" cy="4876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3627" y="4026408"/>
            <a:ext cx="10523220" cy="4876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4562855"/>
            <a:ext cx="10523220" cy="4876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5100828"/>
            <a:ext cx="10523220" cy="4876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5638800"/>
            <a:ext cx="10523220" cy="4861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25169" y="1924938"/>
            <a:ext cx="9077960" cy="4093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Pemeliharaan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mandiri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(autonomous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maintenance)</a:t>
            </a:r>
            <a:endParaRPr sz="2000">
              <a:latin typeface="Calibri"/>
              <a:cs typeface="Calibri"/>
            </a:endParaRPr>
          </a:p>
          <a:p>
            <a:pPr marL="12700" marR="2450465">
              <a:lnSpc>
                <a:spcPct val="176300"/>
              </a:lnSpc>
            </a:pPr>
            <a:r>
              <a:rPr sz="2000" b="1" spc="-10" dirty="0">
                <a:latin typeface="Calibri"/>
                <a:cs typeface="Calibri"/>
              </a:rPr>
              <a:t>Fokus </a:t>
            </a:r>
            <a:r>
              <a:rPr sz="2000" b="1" dirty="0">
                <a:latin typeface="Calibri"/>
                <a:cs typeface="Calibri"/>
              </a:rPr>
              <a:t>dalam </a:t>
            </a:r>
            <a:r>
              <a:rPr sz="2000" b="1" spc="-5" dirty="0">
                <a:latin typeface="Calibri"/>
                <a:cs typeface="Calibri"/>
              </a:rPr>
              <a:t>aktivitas perbaikan </a:t>
            </a:r>
            <a:r>
              <a:rPr sz="2000" b="1" dirty="0">
                <a:latin typeface="Calibri"/>
                <a:cs typeface="Calibri"/>
              </a:rPr>
              <a:t>mesin </a:t>
            </a:r>
            <a:r>
              <a:rPr sz="2000" b="1" spc="-5" dirty="0">
                <a:latin typeface="Calibri"/>
                <a:cs typeface="Calibri"/>
              </a:rPr>
              <a:t>(focused </a:t>
            </a:r>
            <a:r>
              <a:rPr sz="2000" b="1" spc="-10" dirty="0">
                <a:latin typeface="Calibri"/>
                <a:cs typeface="Calibri"/>
              </a:rPr>
              <a:t>improvement) </a:t>
            </a:r>
            <a:r>
              <a:rPr sz="2000" b="1" spc="-4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Pendidikan </a:t>
            </a:r>
            <a:r>
              <a:rPr sz="2000" b="1" dirty="0">
                <a:latin typeface="Calibri"/>
                <a:cs typeface="Calibri"/>
              </a:rPr>
              <a:t>dan </a:t>
            </a:r>
            <a:r>
              <a:rPr sz="2000" b="1" spc="-5" dirty="0">
                <a:latin typeface="Calibri"/>
                <a:cs typeface="Calibri"/>
              </a:rPr>
              <a:t>pelatihan (education </a:t>
            </a:r>
            <a:r>
              <a:rPr sz="2000" b="1" dirty="0">
                <a:latin typeface="Calibri"/>
                <a:cs typeface="Calibri"/>
              </a:rPr>
              <a:t>and </a:t>
            </a:r>
            <a:r>
              <a:rPr sz="2000" b="1" spc="-10" dirty="0">
                <a:latin typeface="Calibri"/>
                <a:cs typeface="Calibri"/>
              </a:rPr>
              <a:t>training) 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Pemeliharaan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terencana </a:t>
            </a:r>
            <a:r>
              <a:rPr sz="2000" b="1" dirty="0">
                <a:latin typeface="Calibri"/>
                <a:cs typeface="Calibri"/>
              </a:rPr>
              <a:t>(planned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maintenance)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76300"/>
              </a:lnSpc>
            </a:pPr>
            <a:r>
              <a:rPr sz="2000" b="1" dirty="0">
                <a:latin typeface="Calibri"/>
                <a:cs typeface="Calibri"/>
              </a:rPr>
              <a:t>Manajemen mesin dan </a:t>
            </a:r>
            <a:r>
              <a:rPr sz="2000" b="1" spc="-5" dirty="0">
                <a:latin typeface="Calibri"/>
                <a:cs typeface="Calibri"/>
              </a:rPr>
              <a:t>produk </a:t>
            </a:r>
            <a:r>
              <a:rPr sz="2000" b="1" dirty="0">
                <a:latin typeface="Calibri"/>
                <a:cs typeface="Calibri"/>
              </a:rPr>
              <a:t>baru </a:t>
            </a:r>
            <a:r>
              <a:rPr sz="2000" b="1" spc="-5" dirty="0">
                <a:latin typeface="Calibri"/>
                <a:cs typeface="Calibri"/>
              </a:rPr>
              <a:t>(early equipment </a:t>
            </a:r>
            <a:r>
              <a:rPr sz="2000" b="1" dirty="0">
                <a:latin typeface="Calibri"/>
                <a:cs typeface="Calibri"/>
              </a:rPr>
              <a:t>and </a:t>
            </a:r>
            <a:r>
              <a:rPr sz="2000" b="1" spc="-5" dirty="0">
                <a:latin typeface="Calibri"/>
                <a:cs typeface="Calibri"/>
              </a:rPr>
              <a:t>product </a:t>
            </a:r>
            <a:r>
              <a:rPr sz="2000" b="1" spc="-10" dirty="0">
                <a:latin typeface="Calibri"/>
                <a:cs typeface="Calibri"/>
              </a:rPr>
              <a:t>management) 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Kegiatan </a:t>
            </a:r>
            <a:r>
              <a:rPr sz="2000" b="1" dirty="0">
                <a:latin typeface="Calibri"/>
                <a:cs typeface="Calibri"/>
              </a:rPr>
              <a:t>TPM pada </a:t>
            </a:r>
            <a:r>
              <a:rPr sz="2000" b="1" spc="-5" dirty="0">
                <a:latin typeface="Calibri"/>
                <a:cs typeface="Calibri"/>
              </a:rPr>
              <a:t>bagian </a:t>
            </a:r>
            <a:r>
              <a:rPr sz="2000" b="1" dirty="0">
                <a:latin typeface="Calibri"/>
                <a:cs typeface="Calibri"/>
              </a:rPr>
              <a:t>non </a:t>
            </a:r>
            <a:r>
              <a:rPr sz="2000" b="1" spc="-5" dirty="0">
                <a:latin typeface="Calibri"/>
                <a:cs typeface="Calibri"/>
              </a:rPr>
              <a:t>produksi </a:t>
            </a:r>
            <a:r>
              <a:rPr sz="2000" b="1" dirty="0">
                <a:latin typeface="Calibri"/>
                <a:cs typeface="Calibri"/>
              </a:rPr>
              <a:t>dan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bagian pemeliharaan </a:t>
            </a:r>
            <a:r>
              <a:rPr sz="2000" b="1" dirty="0">
                <a:latin typeface="Calibri"/>
                <a:cs typeface="Calibri"/>
              </a:rPr>
              <a:t>(TPM in the office) </a:t>
            </a:r>
            <a:r>
              <a:rPr sz="2000" b="1" spc="-4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Pemeliharaan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kualitas </a:t>
            </a:r>
            <a:r>
              <a:rPr sz="2000" b="1" dirty="0">
                <a:latin typeface="Calibri"/>
                <a:cs typeface="Calibri"/>
              </a:rPr>
              <a:t>(quality</a:t>
            </a:r>
            <a:r>
              <a:rPr sz="2000" b="1" spc="-10" dirty="0">
                <a:latin typeface="Calibri"/>
                <a:cs typeface="Calibri"/>
              </a:rPr>
              <a:t> maintenance)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Manajemen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kesehatan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dan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keselamatan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lingkungan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kerja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(safety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environment)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3200" y="401325"/>
            <a:ext cx="11785600" cy="6456675"/>
          </a:xfrm>
        </p:spPr>
        <p:txBody>
          <a:bodyPr>
            <a:normAutofit/>
          </a:bodyPr>
          <a:lstStyle/>
          <a:p>
            <a:r>
              <a:rPr lang="id-ID" sz="2000" b="0" dirty="0">
                <a:solidFill>
                  <a:schemeClr val="tx1"/>
                </a:solidFill>
              </a:rPr>
              <a:t>Objek TPM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Memaksimalkan kegunaan peralatan kerja secara efektif dan benar.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Merancang sistem pemeliharaan agar peralatan selalu siap pakai.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Mengajak seluruh departemen untuk terlibat langsung dalam merancang, menggunakan, serta merawat semua peralatan kerja.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Mengajak manajemen dan pekerja untuk terlibat aktif dalam mensukseskan kegiatan ini</a:t>
            </a:r>
          </a:p>
          <a:p>
            <a:endParaRPr lang="en-US" sz="2000" b="0" dirty="0" smtClean="0">
              <a:solidFill>
                <a:schemeClr val="tx1"/>
              </a:solidFill>
            </a:endParaRPr>
          </a:p>
          <a:p>
            <a:r>
              <a:rPr lang="id-ID" sz="2000" b="0" dirty="0" smtClean="0">
                <a:solidFill>
                  <a:schemeClr val="tx1"/>
                </a:solidFill>
              </a:rPr>
              <a:t>Tujuan </a:t>
            </a:r>
            <a:r>
              <a:rPr lang="id-ID" sz="2000" b="0" dirty="0">
                <a:solidFill>
                  <a:schemeClr val="tx1"/>
                </a:solidFill>
              </a:rPr>
              <a:t>TPM</a:t>
            </a:r>
          </a:p>
          <a:p>
            <a:r>
              <a:rPr lang="id-ID" sz="2000" b="0" dirty="0" smtClean="0">
                <a:solidFill>
                  <a:schemeClr val="tx1"/>
                </a:solidFill>
              </a:rPr>
              <a:t>Mengurangi waktu </a:t>
            </a:r>
            <a:r>
              <a:rPr lang="id-ID" sz="2000" b="0" dirty="0">
                <a:solidFill>
                  <a:schemeClr val="tx1"/>
                </a:solidFill>
              </a:rPr>
              <a:t>tunggu pada saat operasi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Meningkatkan ketersediaan alat sehingga menambah waktu produktive.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Memperpanjang umur pakai.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Melibatkan pemakai dalam sistem perawatan.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Pelaksanaan program </a:t>
            </a:r>
            <a:r>
              <a:rPr lang="id-ID" sz="2000" b="0" i="1" dirty="0">
                <a:solidFill>
                  <a:schemeClr val="tx1"/>
                </a:solidFill>
              </a:rPr>
              <a:t>prevention maintenance</a:t>
            </a:r>
            <a:r>
              <a:rPr lang="id-ID" sz="2000" b="0" dirty="0">
                <a:solidFill>
                  <a:schemeClr val="tx1"/>
                </a:solidFill>
              </a:rPr>
              <a:t> dan peningkatan kemampuan merawat</a:t>
            </a:r>
          </a:p>
          <a:p>
            <a:endParaRPr lang="en-US" sz="2000" b="0" dirty="0" smtClean="0">
              <a:solidFill>
                <a:schemeClr val="tx1"/>
              </a:solidFill>
            </a:endParaRPr>
          </a:p>
          <a:p>
            <a:r>
              <a:rPr lang="id-ID" sz="2000" b="0" dirty="0" smtClean="0">
                <a:solidFill>
                  <a:schemeClr val="tx1"/>
                </a:solidFill>
              </a:rPr>
              <a:t>Sasaran </a:t>
            </a:r>
            <a:r>
              <a:rPr lang="id-ID" sz="2000" b="0" dirty="0">
                <a:solidFill>
                  <a:schemeClr val="tx1"/>
                </a:solidFill>
              </a:rPr>
              <a:t>TPM</a:t>
            </a:r>
          </a:p>
          <a:p>
            <a:r>
              <a:rPr lang="id-ID" sz="2000" b="0" dirty="0" smtClean="0">
                <a:solidFill>
                  <a:schemeClr val="tx1"/>
                </a:solidFill>
              </a:rPr>
              <a:t>Meningkatkan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produktifitas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dengan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cara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mengurangi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masukan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dan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menaikan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keluaran</a:t>
            </a:r>
            <a:endParaRPr lang="id-ID" sz="2000" b="0" dirty="0">
              <a:solidFill>
                <a:schemeClr val="tx1"/>
              </a:solidFill>
            </a:endParaRPr>
          </a:p>
          <a:p>
            <a:r>
              <a:rPr lang="id-ID" sz="2000" b="0" dirty="0" smtClean="0">
                <a:solidFill>
                  <a:schemeClr val="tx1"/>
                </a:solidFill>
              </a:rPr>
              <a:t>Memaksimalkan efektivitas peralatan secara </a:t>
            </a:r>
            <a:r>
              <a:rPr lang="id-ID" sz="2000" b="0" dirty="0">
                <a:solidFill>
                  <a:schemeClr val="tx1"/>
                </a:solidFill>
              </a:rPr>
              <a:t>: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Kuantitatif : meningkatkan total ketersediaan peralatan, dan produktivitas pada periode </a:t>
            </a:r>
            <a:r>
              <a:rPr lang="id-ID" sz="2000" b="0" dirty="0" smtClean="0">
                <a:solidFill>
                  <a:schemeClr val="tx1"/>
                </a:solidFill>
              </a:rPr>
              <a:t>o</a:t>
            </a:r>
            <a:r>
              <a:rPr lang="en-US" sz="2000" b="0" dirty="0" smtClean="0">
                <a:solidFill>
                  <a:schemeClr val="tx1"/>
                </a:solidFill>
              </a:rPr>
              <a:t>p</a:t>
            </a:r>
            <a:r>
              <a:rPr lang="id-ID" sz="2000" b="0" dirty="0" smtClean="0">
                <a:solidFill>
                  <a:schemeClr val="tx1"/>
                </a:solidFill>
              </a:rPr>
              <a:t>erasi </a:t>
            </a:r>
            <a:r>
              <a:rPr lang="id-ID" sz="2000" b="0" dirty="0">
                <a:solidFill>
                  <a:schemeClr val="tx1"/>
                </a:solidFill>
              </a:rPr>
              <a:t>tertentu</a:t>
            </a:r>
          </a:p>
          <a:p>
            <a:r>
              <a:rPr lang="id-ID" sz="2000" b="0" dirty="0">
                <a:solidFill>
                  <a:schemeClr val="tx1"/>
                </a:solidFill>
              </a:rPr>
              <a:t>Kualitatif : mengurangi banyaknya produk cacat</a:t>
            </a:r>
            <a:r>
              <a:rPr lang="id-ID" sz="2000" b="0" dirty="0" smtClean="0">
                <a:solidFill>
                  <a:schemeClr val="tx1"/>
                </a:solidFill>
              </a:rPr>
              <a:t>,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id-ID" sz="2000" b="0" dirty="0" smtClean="0">
                <a:solidFill>
                  <a:schemeClr val="tx1"/>
                </a:solidFill>
              </a:rPr>
              <a:t>menstabilitaskan </a:t>
            </a:r>
            <a:r>
              <a:rPr lang="id-ID" sz="2000" b="0" dirty="0">
                <a:solidFill>
                  <a:schemeClr val="tx1"/>
                </a:solidFill>
              </a:rPr>
              <a:t>dan peningkatan kualitas.</a:t>
            </a:r>
          </a:p>
          <a:p>
            <a:endParaRPr lang="id-ID" sz="20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57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047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Overall</a:t>
            </a:r>
            <a:r>
              <a:rPr spc="-35" dirty="0"/>
              <a:t> </a:t>
            </a:r>
            <a:r>
              <a:rPr spc="-10" dirty="0"/>
              <a:t>Equipment</a:t>
            </a:r>
            <a:r>
              <a:rPr spc="-30" dirty="0"/>
              <a:t> </a:t>
            </a:r>
            <a:r>
              <a:rPr spc="-35" dirty="0"/>
              <a:t>Effectiveness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862" y="1447800"/>
            <a:ext cx="11658600" cy="42998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98755" indent="-22860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  <a:tab pos="5128895" algn="l"/>
              </a:tabLst>
            </a:pPr>
            <a:r>
              <a:rPr sz="2500" spc="-10" dirty="0" err="1" smtClean="0">
                <a:latin typeface="Calibri"/>
                <a:cs typeface="Calibri"/>
              </a:rPr>
              <a:t>Matrik</a:t>
            </a:r>
            <a:r>
              <a:rPr sz="2500" spc="5" dirty="0" smtClean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perhitungan</a:t>
            </a:r>
            <a:r>
              <a:rPr sz="2500" spc="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untuk</a:t>
            </a:r>
            <a:r>
              <a:rPr sz="2500" spc="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mengevaluasi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kemajuan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TPM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yang</a:t>
            </a:r>
            <a:r>
              <a:rPr sz="2500" spc="3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mana </a:t>
            </a:r>
            <a:r>
              <a:rPr sz="2500" spc="-62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dikemukakan</a:t>
            </a:r>
            <a:r>
              <a:rPr sz="2500" spc="20" dirty="0">
                <a:latin typeface="Calibri"/>
                <a:cs typeface="Calibri"/>
              </a:rPr>
              <a:t> </a:t>
            </a:r>
            <a:r>
              <a:rPr sz="2500" spc="-5" dirty="0" err="1">
                <a:latin typeface="Calibri"/>
                <a:cs typeface="Calibri"/>
              </a:rPr>
              <a:t>dalam</a:t>
            </a:r>
            <a:r>
              <a:rPr sz="2500" spc="35" dirty="0">
                <a:latin typeface="Calibri"/>
                <a:cs typeface="Calibri"/>
              </a:rPr>
              <a:t> </a:t>
            </a:r>
            <a:r>
              <a:rPr sz="2500" spc="-15" dirty="0" err="1" smtClean="0">
                <a:latin typeface="Calibri"/>
                <a:cs typeface="Calibri"/>
              </a:rPr>
              <a:t>perhitungan</a:t>
            </a:r>
            <a:r>
              <a:rPr lang="en-US" sz="2500" spc="-15" dirty="0" smtClean="0">
                <a:latin typeface="Calibri"/>
                <a:cs typeface="Calibri"/>
              </a:rPr>
              <a:t>: </a:t>
            </a:r>
          </a:p>
          <a:p>
            <a:pPr marL="241300" marR="198755" indent="-22860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  <a:tab pos="5128895" algn="l"/>
              </a:tabLst>
            </a:pPr>
            <a:r>
              <a:rPr sz="2500" spc="-30" dirty="0" smtClean="0">
                <a:latin typeface="Calibri"/>
                <a:cs typeface="Calibri"/>
              </a:rPr>
              <a:t>Availability</a:t>
            </a:r>
            <a:r>
              <a:rPr sz="2500" spc="-30" dirty="0">
                <a:latin typeface="Calibri"/>
                <a:cs typeface="Calibri"/>
              </a:rPr>
              <a:t>,</a:t>
            </a:r>
            <a:r>
              <a:rPr sz="2500" spc="20" dirty="0">
                <a:latin typeface="Calibri"/>
                <a:cs typeface="Calibri"/>
              </a:rPr>
              <a:t> </a:t>
            </a:r>
            <a:endParaRPr lang="en-US" sz="2500" spc="20" dirty="0" smtClean="0">
              <a:latin typeface="Calibri"/>
              <a:cs typeface="Calibri"/>
            </a:endParaRPr>
          </a:p>
          <a:p>
            <a:pPr marL="241300" marR="198755" indent="-22860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  <a:tab pos="5128895" algn="l"/>
              </a:tabLst>
            </a:pPr>
            <a:r>
              <a:rPr sz="2500" spc="-20" dirty="0" smtClean="0">
                <a:latin typeface="Calibri"/>
                <a:cs typeface="Calibri"/>
              </a:rPr>
              <a:t>Performance</a:t>
            </a:r>
            <a:endParaRPr lang="en-US" sz="2500" spc="-5" dirty="0" smtClean="0">
              <a:latin typeface="Calibri"/>
              <a:cs typeface="Calibri"/>
            </a:endParaRPr>
          </a:p>
          <a:p>
            <a:pPr marL="241300" marR="198755" indent="-22860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  <a:tab pos="5128895" algn="l"/>
              </a:tabLst>
            </a:pPr>
            <a:r>
              <a:rPr sz="2500" spc="-5" dirty="0" smtClean="0">
                <a:latin typeface="Calibri"/>
                <a:cs typeface="Calibri"/>
              </a:rPr>
              <a:t>Quality</a:t>
            </a:r>
            <a:endParaRPr lang="en-US" sz="2500" spc="-5" dirty="0" smtClean="0">
              <a:latin typeface="Calibri"/>
              <a:cs typeface="Calibri"/>
            </a:endParaRPr>
          </a:p>
          <a:p>
            <a:pPr marL="241300" marR="198755" indent="-22860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  <a:tab pos="5128895" algn="l"/>
              </a:tabLst>
            </a:pPr>
            <a:endParaRPr sz="25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spc="-10" dirty="0">
                <a:latin typeface="Calibri"/>
                <a:cs typeface="Calibri"/>
              </a:rPr>
              <a:t>OEE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mempertimbangkan</a:t>
            </a:r>
            <a:r>
              <a:rPr sz="2500" spc="6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kerugian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yang</a:t>
            </a:r>
            <a:r>
              <a:rPr sz="2500" spc="3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tersembunyi</a:t>
            </a:r>
            <a:r>
              <a:rPr sz="2500" spc="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dari</a:t>
            </a:r>
            <a:r>
              <a:rPr sz="2500" spc="2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peralatan.</a:t>
            </a:r>
            <a:endParaRPr sz="25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55"/>
              </a:spcBef>
              <a:buFont typeface="Arial MT"/>
              <a:buChar char="•"/>
              <a:tabLst>
                <a:tab pos="699135" algn="l"/>
                <a:tab pos="2557780" algn="l"/>
              </a:tabLst>
            </a:pPr>
            <a:r>
              <a:rPr sz="2500" spc="-5" dirty="0">
                <a:latin typeface="Calibri"/>
                <a:cs typeface="Calibri"/>
              </a:rPr>
              <a:t>Sebelum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OEE,	</a:t>
            </a:r>
            <a:r>
              <a:rPr sz="2500" spc="-15" dirty="0">
                <a:latin typeface="Calibri"/>
                <a:cs typeface="Calibri"/>
              </a:rPr>
              <a:t>juga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dipertimbangkan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manfaat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peralatan </a:t>
            </a:r>
            <a:r>
              <a:rPr sz="2500" spc="-10" dirty="0">
                <a:latin typeface="Calibri"/>
                <a:cs typeface="Calibri"/>
              </a:rPr>
              <a:t>yang dihasilkan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dari </a:t>
            </a:r>
            <a:r>
              <a:rPr sz="2500" spc="-53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kelebihan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perkiraan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5" dirty="0" err="1">
                <a:latin typeface="Calibri"/>
                <a:cs typeface="Calibri"/>
              </a:rPr>
              <a:t>manfaat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5" dirty="0" err="1" smtClean="0">
                <a:latin typeface="Calibri"/>
                <a:cs typeface="Calibri"/>
              </a:rPr>
              <a:t>peralatan</a:t>
            </a:r>
            <a:endParaRPr lang="en-US" sz="2500" spc="-15" dirty="0" smtClean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55"/>
              </a:spcBef>
              <a:buFont typeface="Arial MT"/>
              <a:buChar char="•"/>
              <a:tabLst>
                <a:tab pos="699135" algn="l"/>
                <a:tab pos="2557780" algn="l"/>
              </a:tabLst>
            </a:pPr>
            <a:r>
              <a:rPr lang="id-ID" sz="2800" dirty="0"/>
              <a:t>Untuk standar </a:t>
            </a:r>
            <a:r>
              <a:rPr lang="id-ID" sz="2800" i="1" dirty="0"/>
              <a:t>benchmark</a:t>
            </a:r>
            <a:r>
              <a:rPr lang="id-ID" sz="2800" dirty="0"/>
              <a:t> </a:t>
            </a:r>
            <a:r>
              <a:rPr lang="id-ID" sz="2800" i="1" dirty="0"/>
              <a:t>world</a:t>
            </a:r>
            <a:r>
              <a:rPr lang="id-ID" sz="2800" dirty="0"/>
              <a:t> </a:t>
            </a:r>
            <a:r>
              <a:rPr lang="id-ID" sz="2800" i="1" dirty="0"/>
              <a:t>class</a:t>
            </a:r>
            <a:r>
              <a:rPr lang="id-ID" sz="2800" dirty="0"/>
              <a:t> yang ditetapkan oleh JIPM, yaitu nilai OEE &gt; 85%.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758572"/>
          </a:xfrm>
        </p:spPr>
        <p:txBody>
          <a:bodyPr>
            <a:normAutofit/>
          </a:bodyPr>
          <a:lstStyle/>
          <a:p>
            <a:r>
              <a:rPr lang="id-ID" sz="3000" b="1" dirty="0" smtClean="0"/>
              <a:t>Analisa Produktivitas / Six Big Losses (Enam Kerugian Besar) :</a:t>
            </a:r>
            <a:endParaRPr lang="id-ID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11277600" cy="5181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d-ID" b="0" dirty="0" smtClean="0">
                <a:solidFill>
                  <a:schemeClr val="tx1"/>
                </a:solidFill>
              </a:rPr>
              <a:t>Rendahnya produktivitas mesin/peralatan yang menimbulkan banyak kerugian bagi perusahaan sering diakibatkan oleh penggunaan mesin yang tidak efektif dan efisien. </a:t>
            </a:r>
          </a:p>
          <a:p>
            <a:pPr marL="0" indent="0">
              <a:buNone/>
            </a:pPr>
            <a:r>
              <a:rPr lang="id-ID" b="0" dirty="0" smtClean="0">
                <a:solidFill>
                  <a:schemeClr val="tx1"/>
                </a:solidFill>
              </a:rPr>
              <a:t>Enam Kerugian Besar adalah :</a:t>
            </a:r>
          </a:p>
          <a:p>
            <a:pPr marL="0" indent="0">
              <a:buNone/>
            </a:pPr>
            <a:r>
              <a:rPr lang="id-ID" b="0" dirty="0" smtClean="0">
                <a:solidFill>
                  <a:schemeClr val="tx1"/>
                </a:solidFill>
              </a:rPr>
              <a:t>1. Downtime (Penurunan Waktu)</a:t>
            </a:r>
          </a:p>
          <a:p>
            <a:r>
              <a:rPr lang="id-ID" b="0" dirty="0" smtClean="0">
                <a:solidFill>
                  <a:schemeClr val="tx1"/>
                </a:solidFill>
              </a:rPr>
              <a:t>Equipment failur</a:t>
            </a:r>
            <a:r>
              <a:rPr lang="en-US" b="0" dirty="0" smtClean="0">
                <a:solidFill>
                  <a:schemeClr val="tx1"/>
                </a:solidFill>
              </a:rPr>
              <a:t>e</a:t>
            </a:r>
            <a:r>
              <a:rPr lang="id-ID" b="0" dirty="0" smtClean="0">
                <a:solidFill>
                  <a:schemeClr val="tx1"/>
                </a:solidFill>
              </a:rPr>
              <a:t>/Breakdowns (Kerugian karena kerusakan peralatan)</a:t>
            </a:r>
          </a:p>
          <a:p>
            <a:r>
              <a:rPr lang="id-ID" b="0" dirty="0" smtClean="0">
                <a:solidFill>
                  <a:schemeClr val="tx1"/>
                </a:solidFill>
              </a:rPr>
              <a:t>Set-up and adjustment (kerugian karena pemasangan dan penyetelan).</a:t>
            </a:r>
          </a:p>
          <a:p>
            <a:pPr marL="0" indent="0">
              <a:buNone/>
            </a:pPr>
            <a:r>
              <a:rPr lang="id-ID" b="0" dirty="0" smtClean="0">
                <a:solidFill>
                  <a:schemeClr val="tx1"/>
                </a:solidFill>
              </a:rPr>
              <a:t>2. Speed Losses (Penurunan Kecepatan)</a:t>
            </a:r>
          </a:p>
          <a:p>
            <a:r>
              <a:rPr lang="id-ID" b="0" dirty="0" smtClean="0">
                <a:solidFill>
                  <a:schemeClr val="tx1"/>
                </a:solidFill>
              </a:rPr>
              <a:t>Idling and minor stoppages ( Kerugian karena beroperasi tanpa beban maupun berhenti sesaat </a:t>
            </a:r>
            <a:r>
              <a:rPr lang="id-ID" b="0" dirty="0">
                <a:solidFill>
                  <a:schemeClr val="tx1"/>
                </a:solidFill>
              </a:rPr>
              <a:t>atau mesin </a:t>
            </a:r>
            <a:r>
              <a:rPr lang="id-ID" b="0" dirty="0" smtClean="0">
                <a:solidFill>
                  <a:schemeClr val="tx1"/>
                </a:solidFill>
              </a:rPr>
              <a:t>be</a:t>
            </a:r>
            <a:r>
              <a:rPr lang="en-US" b="0" dirty="0" smtClean="0">
                <a:solidFill>
                  <a:schemeClr val="tx1"/>
                </a:solidFill>
              </a:rPr>
              <a:t>r</a:t>
            </a:r>
            <a:r>
              <a:rPr lang="id-ID" b="0" dirty="0" smtClean="0">
                <a:solidFill>
                  <a:schemeClr val="tx1"/>
                </a:solidFill>
              </a:rPr>
              <a:t>operasi </a:t>
            </a:r>
            <a:r>
              <a:rPr lang="id-ID" b="0" dirty="0">
                <a:solidFill>
                  <a:schemeClr val="tx1"/>
                </a:solidFill>
              </a:rPr>
              <a:t>tanpa menghasilkan produk</a:t>
            </a:r>
            <a:r>
              <a:rPr lang="id-ID" b="0" dirty="0" smtClean="0">
                <a:solidFill>
                  <a:schemeClr val="tx1"/>
                </a:solidFill>
              </a:rPr>
              <a:t>)</a:t>
            </a:r>
          </a:p>
          <a:p>
            <a:r>
              <a:rPr lang="id-ID" b="0" dirty="0" smtClean="0">
                <a:solidFill>
                  <a:schemeClr val="tx1"/>
                </a:solidFill>
              </a:rPr>
              <a:t>Reduced speed ( Kerugian karena penurunan kecepatan produksi)</a:t>
            </a:r>
          </a:p>
          <a:p>
            <a:pPr marL="0" indent="0">
              <a:buNone/>
            </a:pPr>
            <a:r>
              <a:rPr lang="id-ID" b="0" dirty="0" smtClean="0">
                <a:solidFill>
                  <a:schemeClr val="tx1"/>
                </a:solidFill>
              </a:rPr>
              <a:t>3. Defects (Cacat)</a:t>
            </a:r>
          </a:p>
          <a:p>
            <a:r>
              <a:rPr lang="id-ID" b="0" dirty="0" smtClean="0">
                <a:solidFill>
                  <a:schemeClr val="tx1"/>
                </a:solidFill>
              </a:rPr>
              <a:t>Process Defect</a:t>
            </a:r>
            <a:r>
              <a:rPr lang="en-US" b="0" dirty="0" smtClean="0">
                <a:solidFill>
                  <a:schemeClr val="tx1"/>
                </a:solidFill>
              </a:rPr>
              <a:t> </a:t>
            </a:r>
            <a:r>
              <a:rPr lang="id-ID" b="0" dirty="0" smtClean="0">
                <a:solidFill>
                  <a:schemeClr val="tx1"/>
                </a:solidFill>
              </a:rPr>
              <a:t>(Kerugian karena produk cacat maupun karena kerja produk diproses ulang.</a:t>
            </a:r>
          </a:p>
          <a:p>
            <a:r>
              <a:rPr lang="id-ID" b="0" dirty="0" smtClean="0">
                <a:solidFill>
                  <a:schemeClr val="tx1"/>
                </a:solidFill>
              </a:rPr>
              <a:t>Reduced yieled losses ( Kerugian pada awal waktu produksi hingga mencapai waktu produksi yang stabil).</a:t>
            </a:r>
          </a:p>
          <a:p>
            <a:endParaRPr lang="id-ID" b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9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Overall Equipment Effectiveness (OEE)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6400" y="1447800"/>
            <a:ext cx="116078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b="0" dirty="0" smtClean="0">
                <a:solidFill>
                  <a:schemeClr val="tx1"/>
                </a:solidFill>
              </a:rPr>
              <a:t>Merupakan produk dari </a:t>
            </a:r>
            <a:r>
              <a:rPr lang="id-ID" b="0" i="1" dirty="0" smtClean="0">
                <a:solidFill>
                  <a:schemeClr val="tx1"/>
                </a:solidFill>
              </a:rPr>
              <a:t>six big losses </a:t>
            </a:r>
            <a:r>
              <a:rPr lang="id-ID" b="0" dirty="0" smtClean="0">
                <a:solidFill>
                  <a:schemeClr val="tx1"/>
                </a:solidFill>
              </a:rPr>
              <a:t>pada mesin/peralatan. Keenam faktor </a:t>
            </a:r>
            <a:r>
              <a:rPr lang="id-ID" b="0" i="1" dirty="0">
                <a:solidFill>
                  <a:schemeClr val="tx1"/>
                </a:solidFill>
              </a:rPr>
              <a:t>six big losses </a:t>
            </a:r>
            <a:r>
              <a:rPr lang="id-ID" b="0" dirty="0" smtClean="0">
                <a:solidFill>
                  <a:schemeClr val="tx1"/>
                </a:solidFill>
              </a:rPr>
              <a:t>dapat dikelompokkan menjadi tiga komponen utama dalam OEE untuk dapat digunakan dalam mengukur kinerja mesin/peralatan, yaitu : </a:t>
            </a:r>
            <a:r>
              <a:rPr lang="id-ID" b="0" i="1" dirty="0" smtClean="0">
                <a:solidFill>
                  <a:schemeClr val="tx1"/>
                </a:solidFill>
              </a:rPr>
              <a:t>downtime losses, speed losses, dan defect losses.</a:t>
            </a:r>
          </a:p>
          <a:p>
            <a:pPr marL="0" indent="0">
              <a:buNone/>
            </a:pPr>
            <a:r>
              <a:rPr lang="id-ID" b="0" dirty="0" smtClean="0">
                <a:solidFill>
                  <a:schemeClr val="tx1"/>
                </a:solidFill>
              </a:rPr>
              <a:t>Fungsi OEE :</a:t>
            </a:r>
          </a:p>
          <a:p>
            <a:r>
              <a:rPr lang="id-ID" b="0" dirty="0" smtClean="0">
                <a:solidFill>
                  <a:schemeClr val="tx1"/>
                </a:solidFill>
              </a:rPr>
              <a:t>Merupakan ukuran menyeluruh yang mengidentifikasi tingkat produktivitas mesin/peralatan dan kinerjanya secara teori. Contoh : dapat mengidentifikasi terjadinya </a:t>
            </a:r>
            <a:r>
              <a:rPr lang="id-ID" b="0" i="1" dirty="0" smtClean="0">
                <a:solidFill>
                  <a:schemeClr val="tx1"/>
                </a:solidFill>
              </a:rPr>
              <a:t>bottleneck </a:t>
            </a:r>
            <a:r>
              <a:rPr lang="id-ID" b="0" dirty="0" smtClean="0">
                <a:solidFill>
                  <a:schemeClr val="tx1"/>
                </a:solidFill>
              </a:rPr>
              <a:t>pada lintasan produksi.</a:t>
            </a:r>
          </a:p>
          <a:p>
            <a:r>
              <a:rPr lang="id-ID" b="0" dirty="0" smtClean="0">
                <a:solidFill>
                  <a:schemeClr val="tx1"/>
                </a:solidFill>
              </a:rPr>
              <a:t>Merupakan alat ukur untuk mengevaluasi dan memperbaiki cara yang tepat untuk menjamin tingkat produktivitaspenggunaan mesin/peralatan.</a:t>
            </a:r>
          </a:p>
          <a:p>
            <a:endParaRPr lang="id-ID" b="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3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000" dirty="0" smtClean="0"/>
              <a:t>Formula </a:t>
            </a:r>
            <a:r>
              <a:rPr lang="id-ID" sz="3000" dirty="0"/>
              <a:t>Overall Equipment Effectiveness (OEE)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03200" y="1447800"/>
                <a:ext cx="11811000" cy="52578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id-ID" b="0" i="1" dirty="0" smtClean="0">
                    <a:solidFill>
                      <a:schemeClr val="tx1"/>
                    </a:solidFill>
                  </a:rPr>
                  <a:t>OEE = Availability x Performance efficiency x Rate of quality product</a:t>
                </a:r>
                <a:r>
                  <a:rPr lang="en-US" b="0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x 100%</a:t>
                </a:r>
              </a:p>
              <a:p>
                <a:pPr marL="0" indent="0">
                  <a:buNone/>
                </a:pPr>
                <a:r>
                  <a:rPr lang="id-ID" b="0" dirty="0" smtClean="0">
                    <a:solidFill>
                      <a:schemeClr val="tx1"/>
                    </a:solidFill>
                  </a:rPr>
                  <a:t>Kondisi mesin tidak akurat jika didasari satu faktor saja. Tetapi dari keenam faktor dalam </a:t>
                </a:r>
                <a:r>
                  <a:rPr lang="id-ID" b="0" i="1" dirty="0">
                    <a:solidFill>
                      <a:schemeClr val="tx1"/>
                    </a:solidFill>
                  </a:rPr>
                  <a:t>Six Big Losses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harus diikutsertakan dalam perhitungan OEE agar mendapat hasil yang akurat.</a:t>
                </a:r>
                <a:endParaRPr lang="en-US" b="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0" dirty="0" err="1" smtClean="0">
                    <a:solidFill>
                      <a:schemeClr val="tx1"/>
                    </a:solidFill>
                  </a:rPr>
                  <a:t>Syarat</a:t>
                </a:r>
                <a:r>
                  <a:rPr lang="en-US" b="0" dirty="0" smtClean="0">
                    <a:solidFill>
                      <a:schemeClr val="tx1"/>
                    </a:solidFill>
                  </a:rPr>
                  <a:t> OEE &gt; 85%</a:t>
                </a:r>
                <a:endParaRPr lang="id-ID" b="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d-ID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id-ID" b="0" dirty="0" smtClean="0">
                    <a:solidFill>
                      <a:schemeClr val="tx1"/>
                    </a:solidFill>
                  </a:rPr>
                  <a:t>A. Availability</a:t>
                </a:r>
              </a:p>
              <a:p>
                <a:pPr marL="0" indent="0">
                  <a:buNone/>
                </a:pPr>
                <a:r>
                  <a:rPr lang="id-ID" b="0" dirty="0" smtClean="0">
                    <a:solidFill>
                      <a:schemeClr val="tx1"/>
                    </a:solidFill>
                  </a:rPr>
                  <a:t>Merupakan rasio operation time terdapat waktu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loading time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-nya. Sehingga dapat menghitung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Availability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 mesin dibutuhkan nilai dari :</a:t>
                </a:r>
              </a:p>
              <a:p>
                <a:r>
                  <a:rPr lang="id-ID" b="0" i="1" dirty="0" smtClean="0">
                    <a:solidFill>
                      <a:schemeClr val="tx1"/>
                    </a:solidFill>
                  </a:rPr>
                  <a:t>Operation Time</a:t>
                </a:r>
              </a:p>
              <a:p>
                <a:r>
                  <a:rPr lang="id-ID" b="0" i="1" dirty="0" smtClean="0">
                    <a:solidFill>
                      <a:schemeClr val="tx1"/>
                    </a:solidFill>
                  </a:rPr>
                  <a:t>Loading Time</a:t>
                </a:r>
              </a:p>
              <a:p>
                <a:r>
                  <a:rPr lang="id-ID" b="0" i="1" dirty="0" smtClean="0">
                    <a:solidFill>
                      <a:schemeClr val="tx1"/>
                    </a:solidFill>
                  </a:rPr>
                  <a:t>Downtime</a:t>
                </a:r>
              </a:p>
              <a:p>
                <a:pPr marL="0" indent="0">
                  <a:buNone/>
                </a:pPr>
                <a:r>
                  <a:rPr lang="id-ID" b="0" i="1" dirty="0" smtClean="0">
                    <a:solidFill>
                      <a:schemeClr val="tx1"/>
                    </a:solidFill>
                  </a:rPr>
                  <a:t>Dapat dihitung dengan rumus :</a:t>
                </a:r>
              </a:p>
              <a:p>
                <a:pPr marL="0" indent="0">
                  <a:buNone/>
                </a:pPr>
                <a:r>
                  <a:rPr lang="id-ID" b="0" i="1" dirty="0" smtClean="0">
                    <a:solidFill>
                      <a:schemeClr val="tx1"/>
                    </a:solidFill>
                  </a:rPr>
                  <a:t>Availability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Operation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Loading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id-ID" b="0" i="1" dirty="0" smtClean="0">
                    <a:solidFill>
                      <a:schemeClr val="tx1"/>
                    </a:solidFill>
                  </a:rPr>
                  <a:t> x 100%</a:t>
                </a:r>
              </a:p>
              <a:p>
                <a:pPr marL="0" indent="0">
                  <a:buNone/>
                </a:pPr>
                <a:endParaRPr lang="id-ID" b="0" i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id-ID" b="0" i="1" dirty="0">
                    <a:solidFill>
                      <a:schemeClr val="tx1"/>
                    </a:solidFill>
                  </a:rPr>
                  <a:t>Availability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b="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Loading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a:rPr lang="id-ID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id-ID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Downtime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Loading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id-ID" b="0" i="1" dirty="0">
                    <a:solidFill>
                      <a:schemeClr val="tx1"/>
                    </a:solidFill>
                  </a:rPr>
                  <a:t> x 100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%</a:t>
                </a:r>
                <a:endParaRPr lang="id-ID" b="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d-ID" b="0" i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d-ID" b="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d-ID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03200" y="1447800"/>
                <a:ext cx="11811000" cy="5257800"/>
              </a:xfrm>
              <a:blipFill rotWithShape="1">
                <a:blip r:embed="rId2"/>
                <a:stretch>
                  <a:fillRect l="-1393" t="-2784" r="-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515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762000"/>
            <a:ext cx="11887200" cy="1538883"/>
          </a:xfrm>
        </p:spPr>
        <p:txBody>
          <a:bodyPr/>
          <a:lstStyle/>
          <a:p>
            <a:r>
              <a:rPr lang="id-ID" sz="2000" b="0" i="1" dirty="0">
                <a:solidFill>
                  <a:schemeClr val="tx1"/>
                </a:solidFill>
              </a:rPr>
              <a:t>Loading </a:t>
            </a:r>
            <a:r>
              <a:rPr lang="id-ID" sz="2000" b="0" i="1" dirty="0" smtClean="0">
                <a:solidFill>
                  <a:schemeClr val="tx1"/>
                </a:solidFill>
              </a:rPr>
              <a:t>Time </a:t>
            </a:r>
            <a:r>
              <a:rPr lang="id-ID" sz="2000" b="0" dirty="0" smtClean="0">
                <a:solidFill>
                  <a:schemeClr val="tx1"/>
                </a:solidFill>
              </a:rPr>
              <a:t>adalah waktu yang tersedia </a:t>
            </a:r>
            <a:r>
              <a:rPr lang="id-ID" sz="2000" b="0" i="1" dirty="0" smtClean="0">
                <a:solidFill>
                  <a:schemeClr val="tx1"/>
                </a:solidFill>
              </a:rPr>
              <a:t>(Availability) </a:t>
            </a:r>
            <a:r>
              <a:rPr lang="id-ID" sz="2000" b="0" dirty="0" smtClean="0">
                <a:solidFill>
                  <a:schemeClr val="tx1"/>
                </a:solidFill>
              </a:rPr>
              <a:t>per hari atau perbulan dikurangi dengan waktu</a:t>
            </a:r>
            <a:r>
              <a:rPr lang="id-ID" sz="2000" b="0" i="1" dirty="0" smtClean="0">
                <a:solidFill>
                  <a:schemeClr val="tx1"/>
                </a:solidFill>
              </a:rPr>
              <a:t> Downtime</a:t>
            </a:r>
            <a:r>
              <a:rPr lang="id-ID" sz="2000" b="0" dirty="0" smtClean="0">
                <a:solidFill>
                  <a:schemeClr val="tx1"/>
                </a:solidFill>
              </a:rPr>
              <a:t> mesin yang direncanakan</a:t>
            </a:r>
            <a:r>
              <a:rPr lang="id-ID" sz="2000" b="0" i="1" dirty="0" smtClean="0">
                <a:solidFill>
                  <a:schemeClr val="tx1"/>
                </a:solidFill>
              </a:rPr>
              <a:t> (planned Downtime).</a:t>
            </a:r>
          </a:p>
          <a:p>
            <a:pPr marL="0" indent="0">
              <a:buNone/>
            </a:pPr>
            <a:r>
              <a:rPr lang="id-ID" sz="2000" b="0" i="1" dirty="0">
                <a:solidFill>
                  <a:schemeClr val="tx1"/>
                </a:solidFill>
              </a:rPr>
              <a:t>Loading </a:t>
            </a:r>
            <a:r>
              <a:rPr lang="id-ID" sz="2000" b="0" i="1" dirty="0" smtClean="0">
                <a:solidFill>
                  <a:schemeClr val="tx1"/>
                </a:solidFill>
              </a:rPr>
              <a:t>Time =  Total Availability - Planned Downtime.</a:t>
            </a:r>
          </a:p>
          <a:p>
            <a:pPr marL="0" indent="0">
              <a:buNone/>
            </a:pPr>
            <a:r>
              <a:rPr lang="id-ID" sz="2000" b="0" i="1" dirty="0">
                <a:solidFill>
                  <a:schemeClr val="tx1"/>
                </a:solidFill>
              </a:rPr>
              <a:t>Planned </a:t>
            </a:r>
            <a:r>
              <a:rPr lang="id-ID" sz="2000" b="0" i="1" dirty="0" smtClean="0">
                <a:solidFill>
                  <a:schemeClr val="tx1"/>
                </a:solidFill>
              </a:rPr>
              <a:t>Downtime </a:t>
            </a:r>
            <a:r>
              <a:rPr lang="id-ID" sz="2000" b="0" dirty="0" smtClean="0">
                <a:solidFill>
                  <a:schemeClr val="tx1"/>
                </a:solidFill>
              </a:rPr>
              <a:t>adalah jumlah waktu </a:t>
            </a:r>
            <a:r>
              <a:rPr lang="id-ID" sz="2000" b="0" i="1" dirty="0" smtClean="0">
                <a:solidFill>
                  <a:schemeClr val="tx1"/>
                </a:solidFill>
              </a:rPr>
              <a:t>Downtime mesin </a:t>
            </a:r>
            <a:r>
              <a:rPr lang="id-ID" sz="2000" b="0" dirty="0" smtClean="0">
                <a:solidFill>
                  <a:schemeClr val="tx1"/>
                </a:solidFill>
              </a:rPr>
              <a:t>untuk pemeliharaan atau kegiatan manajemen lainnya.</a:t>
            </a:r>
          </a:p>
          <a:p>
            <a:pPr marL="0" indent="0">
              <a:buNone/>
            </a:pPr>
            <a:r>
              <a:rPr lang="id-ID" sz="2000" b="0" i="1" dirty="0" smtClean="0">
                <a:solidFill>
                  <a:schemeClr val="tx1"/>
                </a:solidFill>
              </a:rPr>
              <a:t>Operation time </a:t>
            </a:r>
            <a:r>
              <a:rPr lang="id-ID" sz="2000" b="0" dirty="0" smtClean="0">
                <a:solidFill>
                  <a:schemeClr val="tx1"/>
                </a:solidFill>
              </a:rPr>
              <a:t>merupakan hasil pengurangan </a:t>
            </a:r>
            <a:r>
              <a:rPr lang="id-ID" sz="2000" b="0" i="1" dirty="0">
                <a:solidFill>
                  <a:schemeClr val="tx1"/>
                </a:solidFill>
              </a:rPr>
              <a:t>Loading Time </a:t>
            </a:r>
            <a:r>
              <a:rPr lang="id-ID" sz="2000" b="0" dirty="0" smtClean="0">
                <a:solidFill>
                  <a:schemeClr val="tx1"/>
                </a:solidFill>
              </a:rPr>
              <a:t>dengan waktu </a:t>
            </a:r>
            <a:r>
              <a:rPr lang="id-ID" sz="2000" b="0" i="1" dirty="0">
                <a:solidFill>
                  <a:schemeClr val="tx1"/>
                </a:solidFill>
              </a:rPr>
              <a:t>Downtime </a:t>
            </a:r>
            <a:r>
              <a:rPr lang="id-ID" sz="2000" b="0" dirty="0">
                <a:solidFill>
                  <a:schemeClr val="tx1"/>
                </a:solidFill>
              </a:rPr>
              <a:t>mesin</a:t>
            </a:r>
            <a:r>
              <a:rPr lang="id-ID" sz="2000" b="0" i="1" dirty="0">
                <a:solidFill>
                  <a:schemeClr val="tx1"/>
                </a:solidFill>
              </a:rPr>
              <a:t> </a:t>
            </a:r>
            <a:r>
              <a:rPr lang="id-ID" sz="2000" b="0" i="1" dirty="0" smtClean="0">
                <a:solidFill>
                  <a:schemeClr val="tx1"/>
                </a:solidFill>
              </a:rPr>
              <a:t>(non-operation time).</a:t>
            </a:r>
            <a:endParaRPr lang="id-ID" sz="2000" b="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76200" y="2429001"/>
                <a:ext cx="12039600" cy="3063240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77500" lnSpcReduction="20000"/>
              </a:bodyPr>
              <a:lstStyle>
                <a:lvl1pPr marL="0">
                  <a:defRPr sz="2800" b="1" i="0">
                    <a:solidFill>
                      <a:schemeClr val="bg1"/>
                    </a:solidFill>
                    <a:latin typeface="Calibri"/>
                    <a:ea typeface="+mn-ea"/>
                    <a:cs typeface="Calibri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id-ID" b="0" dirty="0" smtClean="0">
                    <a:solidFill>
                      <a:schemeClr val="tx1"/>
                    </a:solidFill>
                  </a:rPr>
                  <a:t>B.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Performance Efficiency</a:t>
                </a:r>
              </a:p>
              <a:p>
                <a:r>
                  <a:rPr lang="id-ID" b="0" dirty="0" smtClean="0">
                    <a:solidFill>
                      <a:schemeClr val="tx1"/>
                    </a:solidFill>
                  </a:rPr>
                  <a:t>Merupakan hasil perkalian dari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operation speed rate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dan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net operation rate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atau rasio kuantitas produk yang dihasilkan dikalikan dengan waktu siklus idealnya terhadap waktu yang tersedia yang melakukan proses produksi (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 Operation time).</a:t>
                </a:r>
              </a:p>
              <a:p>
                <a:r>
                  <a:rPr lang="id-ID" b="0" i="1" dirty="0">
                    <a:solidFill>
                      <a:schemeClr val="tx1"/>
                    </a:solidFill>
                  </a:rPr>
                  <a:t>operation speed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rate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merupakan perbandingan  antara kecepatan ideal mesin berdasarkan kapasitas mesin sebenarnya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(theoritical/ideal cycle time)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dengan kecepatan aktual mesin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( actual cycle time).</a:t>
                </a:r>
              </a:p>
              <a:p>
                <a:r>
                  <a:rPr lang="id-ID" b="0" dirty="0" smtClean="0">
                    <a:solidFill>
                      <a:schemeClr val="tx1"/>
                    </a:solidFill>
                  </a:rPr>
                  <a:t>Persamaan matematiknya :</a:t>
                </a:r>
              </a:p>
              <a:p>
                <a:r>
                  <a:rPr lang="id-ID" b="0" i="1" dirty="0">
                    <a:solidFill>
                      <a:schemeClr val="tx1"/>
                    </a:solidFill>
                  </a:rPr>
                  <a:t>operation speed rate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ideal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cycle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actual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cycle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r>
                  <a:rPr lang="id-ID" b="0" i="1" dirty="0">
                    <a:solidFill>
                      <a:schemeClr val="tx1"/>
                    </a:solidFill>
                  </a:rPr>
                  <a:t> </a:t>
                </a:r>
                <a:endParaRPr lang="id-ID" b="0" i="1" dirty="0" smtClean="0">
                  <a:solidFill>
                    <a:schemeClr val="tx1"/>
                  </a:solidFill>
                </a:endParaRPr>
              </a:p>
              <a:p>
                <a:endParaRPr lang="id-ID" b="0" i="1" dirty="0" smtClean="0">
                  <a:solidFill>
                    <a:schemeClr val="tx1"/>
                  </a:solidFill>
                </a:endParaRPr>
              </a:p>
              <a:p>
                <a:r>
                  <a:rPr lang="id-ID" b="0" i="1" dirty="0">
                    <a:solidFill>
                      <a:schemeClr val="tx1"/>
                    </a:solidFill>
                  </a:rPr>
                  <a:t>net operation rate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b="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id-ID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𝑎𝑐𝑡𝑢𝑎𝑙</m:t>
                        </m:r>
                        <m:r>
                          <a:rPr lang="id-ID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id-ID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𝑝𝑟𝑜𝑐𝑒𝑠𝑠𝑖𝑛𝑔</m:t>
                        </m:r>
                        <m:r>
                          <a:rPr lang="id-ID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id-ID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𝑡𝑖𝑚𝑒</m:t>
                        </m:r>
                      </m:num>
                      <m:den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Operation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r>
                  <a:rPr lang="id-ID" b="0" i="1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id-ID" b="0" i="1" dirty="0">
                  <a:solidFill>
                    <a:schemeClr val="tx1"/>
                  </a:solidFill>
                </a:endParaRPr>
              </a:p>
              <a:p>
                <a:endParaRPr lang="id-ID" b="0" dirty="0" smtClean="0">
                  <a:solidFill>
                    <a:schemeClr val="tx1"/>
                  </a:solidFill>
                </a:endParaRPr>
              </a:p>
              <a:p>
                <a:endParaRPr lang="id-ID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429001"/>
                <a:ext cx="12039600" cy="3063240"/>
              </a:xfrm>
              <a:prstGeom prst="rect">
                <a:avLst/>
              </a:prstGeom>
              <a:blipFill rotWithShape="1">
                <a:blip r:embed="rId2"/>
                <a:stretch>
                  <a:fillRect l="-1418" t="-4573" b="-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53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685800"/>
                <a:ext cx="10363200" cy="58674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id-ID" b="0" i="1" dirty="0" smtClean="0">
                    <a:solidFill>
                      <a:schemeClr val="tx1"/>
                    </a:solidFill>
                  </a:rPr>
                  <a:t>Net </a:t>
                </a:r>
                <a:r>
                  <a:rPr lang="id-ID" b="0" i="1" dirty="0">
                    <a:solidFill>
                      <a:schemeClr val="tx1"/>
                    </a:solidFill>
                  </a:rPr>
                  <a:t>operation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rate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merupakan perbandingan antara jumlah produk yang diproses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(Process Amount)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dikali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id-ID" b="0" i="1" dirty="0">
                    <a:solidFill>
                      <a:schemeClr val="tx1"/>
                    </a:solidFill>
                  </a:rPr>
                  <a:t>actual cycle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time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dengan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Operation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time</m:t>
                    </m:r>
                  </m:oMath>
                </a14:m>
                <a:r>
                  <a:rPr lang="id-ID" b="0" dirty="0" smtClean="0">
                    <a:solidFill>
                      <a:schemeClr val="tx1"/>
                    </a:solidFill>
                  </a:rPr>
                  <a:t>. </a:t>
                </a:r>
                <a:r>
                  <a:rPr lang="id-ID" b="0" i="1" dirty="0">
                    <a:solidFill>
                      <a:schemeClr val="tx1"/>
                    </a:solidFill>
                  </a:rPr>
                  <a:t>Net operation rate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berguna untuk menghitung kerugian yang disebabkan oleh minor stoppages dan menurunnya kecepatan produksi (reduce speed).</a:t>
                </a:r>
              </a:p>
              <a:p>
                <a:pPr marL="0" indent="0">
                  <a:buNone/>
                </a:pPr>
                <a:r>
                  <a:rPr lang="id-ID" b="0" dirty="0" smtClean="0">
                    <a:solidFill>
                      <a:schemeClr val="tx1"/>
                    </a:solidFill>
                  </a:rPr>
                  <a:t>Tiga Faktor yang dibutuhkan untuk menghitung </a:t>
                </a:r>
                <a:r>
                  <a:rPr lang="id-ID" b="0" i="1" dirty="0">
                    <a:solidFill>
                      <a:schemeClr val="tx1"/>
                    </a:solidFill>
                  </a:rPr>
                  <a:t>Performance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Efficiency :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ideal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id-ID" b="0" i="1" dirty="0" smtClean="0">
                        <a:solidFill>
                          <a:schemeClr val="tx1"/>
                        </a:solidFill>
                      </a:rPr>
                      <m:t>cycle</m:t>
                    </m:r>
                    <m:r>
                      <m:rPr>
                        <m:nor/>
                      </m:rPr>
                      <a:rPr lang="id-ID" b="0" i="1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id-ID" b="0" i="1" dirty="0" smtClean="0">
                        <a:solidFill>
                          <a:schemeClr val="tx1"/>
                        </a:solidFill>
                      </a:rPr>
                      <m:t>time</m:t>
                    </m:r>
                  </m:oMath>
                </a14:m>
                <a:r>
                  <a:rPr lang="id-ID" b="0" dirty="0" smtClean="0">
                    <a:solidFill>
                      <a:schemeClr val="tx1"/>
                    </a:solidFill>
                  </a:rPr>
                  <a:t> ( Waktu siklus ideal/waktu standar)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id-ID" b="0" i="1" dirty="0">
                    <a:solidFill>
                      <a:schemeClr val="tx1"/>
                    </a:solidFill>
                  </a:rPr>
                  <a:t>Process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Amount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(Jumlah Produk yang diproses)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Operation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time</m:t>
                    </m:r>
                  </m:oMath>
                </a14:m>
                <a:r>
                  <a:rPr lang="id-ID" b="0" dirty="0" smtClean="0">
                    <a:solidFill>
                      <a:schemeClr val="tx1"/>
                    </a:solidFill>
                  </a:rPr>
                  <a:t> (waktu operasi mesin)</a:t>
                </a:r>
              </a:p>
              <a:p>
                <a:pPr marL="0" indent="0">
                  <a:buNone/>
                </a:pPr>
                <a:r>
                  <a:rPr lang="id-ID" b="0" i="1" dirty="0">
                    <a:solidFill>
                      <a:schemeClr val="tx1"/>
                    </a:solidFill>
                  </a:rPr>
                  <a:t>Performance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Efficiency dapat dihitung sebagai berikut :</a:t>
                </a:r>
              </a:p>
              <a:p>
                <a:pPr marL="0" indent="0">
                  <a:buNone/>
                </a:pPr>
                <a:r>
                  <a:rPr lang="id-ID" b="0" i="1" dirty="0">
                    <a:solidFill>
                      <a:schemeClr val="tx1"/>
                    </a:solidFill>
                  </a:rPr>
                  <a:t>Performance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Efficiency = </a:t>
                </a:r>
                <a:r>
                  <a:rPr lang="id-ID" b="0" i="1" dirty="0">
                    <a:solidFill>
                      <a:schemeClr val="tx1"/>
                    </a:solidFill>
                  </a:rPr>
                  <a:t>Net operation rate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o</m:t>
                    </m:r>
                    <m:r>
                      <m:rPr>
                        <m:nor/>
                      </m:rPr>
                      <a:rPr lang="id-ID" b="0" i="1" dirty="0" smtClean="0">
                        <a:solidFill>
                          <a:schemeClr val="tx1"/>
                        </a:solidFill>
                      </a:rPr>
                      <m:t>perating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cycle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id-ID" b="0" i="1" dirty="0">
                        <a:solidFill>
                          <a:schemeClr val="tx1"/>
                        </a:solidFill>
                      </a:rPr>
                      <m:t>time</m:t>
                    </m:r>
                  </m:oMath>
                </a14:m>
                <a:endParaRPr lang="id-ID" b="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d-ID" b="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d-ID" b="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Process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Amount</m:t>
                        </m:r>
                        <m:r>
                          <a:rPr lang="id-ID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id-ID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id-ID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actual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cycle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Operati</m:t>
                        </m:r>
                        <m:r>
                          <m:rPr>
                            <m:nor/>
                          </m:rPr>
                          <a:rPr lang="id-ID" b="0" i="1" dirty="0" smtClean="0">
                            <a:solidFill>
                              <a:schemeClr val="tx1"/>
                            </a:solidFill>
                          </a:rPr>
                          <m:t>ng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r>
                  <a:rPr lang="id-ID" b="0" i="1" dirty="0">
                    <a:solidFill>
                      <a:schemeClr val="tx1"/>
                    </a:solidFill>
                  </a:rPr>
                  <a:t>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b="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ideal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cycle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actual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cycle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endParaRPr lang="id-ID" b="0" i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d-ID" b="0" i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id-ID" b="0" i="1" dirty="0">
                    <a:solidFill>
                      <a:schemeClr val="tx1"/>
                    </a:solidFill>
                  </a:rPr>
                  <a:t>Performance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Efficiency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b="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Process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Amount</m:t>
                        </m:r>
                        <m:r>
                          <a:rPr lang="id-ID" b="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id-ID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id-ID" b="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id-ID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ideal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cycle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Operati</m:t>
                        </m:r>
                        <m:r>
                          <m:rPr>
                            <m:nor/>
                          </m:rPr>
                          <a:rPr lang="id-ID" b="0" i="1" dirty="0" smtClean="0">
                            <a:solidFill>
                              <a:schemeClr val="tx1"/>
                            </a:solidFill>
                          </a:rPr>
                          <m:t>ng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endParaRPr lang="id-ID" b="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id-ID" b="0" dirty="0">
                    <a:solidFill>
                      <a:schemeClr val="tx1"/>
                    </a:solidFill>
                  </a:rPr>
                  <a:t> </a:t>
                </a:r>
                <a:endParaRPr lang="id-ID" b="0" dirty="0" smtClean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id-ID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685800"/>
                <a:ext cx="10363200" cy="5867400"/>
              </a:xfrm>
              <a:blipFill rotWithShape="1">
                <a:blip r:embed="rId2"/>
                <a:stretch>
                  <a:fillRect l="-1941" t="-2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6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066800" y="1143000"/>
                <a:ext cx="10227310" cy="45709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d-ID" b="0" dirty="0" smtClean="0">
                    <a:solidFill>
                      <a:schemeClr val="tx1"/>
                    </a:solidFill>
                  </a:rPr>
                  <a:t>C.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Rate Qua</a:t>
                </a:r>
                <a:r>
                  <a:rPr lang="en-US" b="0" i="1" dirty="0" smtClean="0">
                    <a:solidFill>
                      <a:schemeClr val="tx1"/>
                    </a:solidFill>
                  </a:rPr>
                  <a:t>l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ity Product</a:t>
                </a:r>
              </a:p>
              <a:p>
                <a:pPr marL="0" indent="0">
                  <a:buNone/>
                </a:pPr>
                <a:r>
                  <a:rPr lang="id-ID" b="0" i="1" dirty="0">
                    <a:solidFill>
                      <a:schemeClr val="tx1"/>
                    </a:solidFill>
                  </a:rPr>
                  <a:t>Rate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Qua</a:t>
                </a:r>
                <a:r>
                  <a:rPr lang="en-US" b="0" i="1" dirty="0" smtClean="0">
                    <a:solidFill>
                      <a:schemeClr val="tx1"/>
                    </a:solidFill>
                  </a:rPr>
                  <a:t>l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ity Product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 adalah rasio jumlah produk yang lebih baik terhadap jumlah total produk yang diproses. Jadi </a:t>
                </a:r>
                <a:r>
                  <a:rPr lang="id-ID" b="0" i="1" dirty="0">
                    <a:solidFill>
                      <a:schemeClr val="tx1"/>
                    </a:solidFill>
                  </a:rPr>
                  <a:t>Rate Quantity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Product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adalah perhitungan dengan menggunakan 2 faktor :</a:t>
                </a:r>
              </a:p>
              <a:p>
                <a:r>
                  <a:rPr lang="id-ID" b="0" i="1" dirty="0" smtClean="0">
                    <a:solidFill>
                      <a:schemeClr val="tx1"/>
                    </a:solidFill>
                  </a:rPr>
                  <a:t>Process Amount ( jumlah produk yang diproses).</a:t>
                </a:r>
              </a:p>
              <a:p>
                <a:r>
                  <a:rPr lang="id-ID" b="0" i="1" dirty="0" smtClean="0">
                    <a:solidFill>
                      <a:schemeClr val="tx1"/>
                    </a:solidFill>
                  </a:rPr>
                  <a:t>Defect Amount </a:t>
                </a:r>
                <a:r>
                  <a:rPr lang="id-ID" b="0" dirty="0" smtClean="0">
                    <a:solidFill>
                      <a:schemeClr val="tx1"/>
                    </a:solidFill>
                  </a:rPr>
                  <a:t>( jumlah produk cacat).</a:t>
                </a:r>
              </a:p>
              <a:p>
                <a:pPr marL="0" indent="0">
                  <a:buNone/>
                </a:pPr>
                <a:r>
                  <a:rPr lang="id-ID" b="0" dirty="0" smtClean="0">
                    <a:solidFill>
                      <a:schemeClr val="tx1"/>
                    </a:solidFill>
                  </a:rPr>
                  <a:t>Dapat ditulis dengan rumus matematik :</a:t>
                </a:r>
              </a:p>
              <a:p>
                <a:pPr marL="0" indent="0">
                  <a:buNone/>
                </a:pPr>
                <a:r>
                  <a:rPr lang="id-ID" b="0" i="1" dirty="0">
                    <a:solidFill>
                      <a:schemeClr val="tx1"/>
                    </a:solidFill>
                  </a:rPr>
                  <a:t>Rate Quantity </a:t>
                </a:r>
                <a:r>
                  <a:rPr lang="id-ID" b="0" i="1" dirty="0" smtClean="0">
                    <a:solidFill>
                      <a:schemeClr val="tx1"/>
                    </a:solidFill>
                  </a:rPr>
                  <a:t>Product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b="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Process</m:t>
                        </m:r>
                        <m:r>
                          <m:rPr>
                            <m:nor/>
                          </m:rPr>
                          <a:rPr lang="id-ID" b="0" i="1" dirty="0" smtClean="0">
                            <a:solidFill>
                              <a:schemeClr val="tx1"/>
                            </a:solidFill>
                          </a:rPr>
                          <m:t>ed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Amount</m:t>
                        </m:r>
                        <m:r>
                          <a:rPr lang="id-ID" b="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id-ID" b="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id-ID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Defect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Amount</m:t>
                        </m:r>
                      </m:num>
                      <m:den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Process</m:t>
                        </m:r>
                        <m:r>
                          <m:rPr>
                            <m:nor/>
                          </m:rPr>
                          <a:rPr lang="id-ID" b="0" i="1" dirty="0" smtClean="0">
                            <a:solidFill>
                              <a:schemeClr val="tx1"/>
                            </a:solidFill>
                          </a:rPr>
                          <m:t>ed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d-ID" b="0" i="1" dirty="0">
                            <a:solidFill>
                              <a:schemeClr val="tx1"/>
                            </a:solidFill>
                          </a:rPr>
                          <m:t>Amount</m:t>
                        </m:r>
                      </m:den>
                    </m:f>
                  </m:oMath>
                </a14:m>
                <a:r>
                  <a:rPr lang="id-ID" b="0" dirty="0" smtClean="0">
                    <a:solidFill>
                      <a:schemeClr val="tx1"/>
                    </a:solidFill>
                  </a:rPr>
                  <a:t> x 100%</a:t>
                </a:r>
                <a:endParaRPr lang="id-ID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d-ID" b="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d-ID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066800" y="1143000"/>
                <a:ext cx="10227310" cy="4570995"/>
              </a:xfrm>
              <a:blipFill rotWithShape="1">
                <a:blip r:embed="rId2"/>
                <a:stretch>
                  <a:fillRect l="-2086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330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5584"/>
            <a:ext cx="6562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45" dirty="0">
                <a:solidFill>
                  <a:srgbClr val="FF0000"/>
                </a:solidFill>
                <a:latin typeface="Arial"/>
                <a:cs typeface="Arial"/>
              </a:rPr>
              <a:t>Kerugian</a:t>
            </a:r>
            <a:r>
              <a:rPr b="1" spc="-2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30" dirty="0">
                <a:solidFill>
                  <a:srgbClr val="FF0000"/>
                </a:solidFill>
                <a:latin typeface="Arial"/>
                <a:cs typeface="Arial"/>
              </a:rPr>
              <a:t>yang</a:t>
            </a:r>
            <a:r>
              <a:rPr b="1" spc="-1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spc="45" dirty="0">
                <a:solidFill>
                  <a:srgbClr val="FF0000"/>
                </a:solidFill>
                <a:latin typeface="Arial"/>
                <a:cs typeface="Arial"/>
              </a:rPr>
              <a:t>Dihindari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6324" y="1533144"/>
            <a:ext cx="11732260" cy="807720"/>
            <a:chOff x="306324" y="1533144"/>
            <a:chExt cx="11732260" cy="807720"/>
          </a:xfrm>
        </p:grpSpPr>
        <p:sp>
          <p:nvSpPr>
            <p:cNvPr id="4" name="object 4"/>
            <p:cNvSpPr/>
            <p:nvPr/>
          </p:nvSpPr>
          <p:spPr>
            <a:xfrm>
              <a:off x="309372" y="2010156"/>
              <a:ext cx="11725910" cy="327660"/>
            </a:xfrm>
            <a:custGeom>
              <a:avLst/>
              <a:gdLst/>
              <a:ahLst/>
              <a:cxnLst/>
              <a:rect l="l" t="t" r="r" b="b"/>
              <a:pathLst>
                <a:path w="11725910" h="327660">
                  <a:moveTo>
                    <a:pt x="0" y="327660"/>
                  </a:moveTo>
                  <a:lnTo>
                    <a:pt x="11725656" y="327660"/>
                  </a:lnTo>
                  <a:lnTo>
                    <a:pt x="11725656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ln w="6096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536" y="1533144"/>
              <a:ext cx="11143488" cy="67208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06324" y="2404872"/>
            <a:ext cx="11732260" cy="806450"/>
            <a:chOff x="306324" y="2404872"/>
            <a:chExt cx="11732260" cy="806450"/>
          </a:xfrm>
        </p:grpSpPr>
        <p:sp>
          <p:nvSpPr>
            <p:cNvPr id="7" name="object 7"/>
            <p:cNvSpPr/>
            <p:nvPr/>
          </p:nvSpPr>
          <p:spPr>
            <a:xfrm>
              <a:off x="309372" y="2881884"/>
              <a:ext cx="11725910" cy="326390"/>
            </a:xfrm>
            <a:custGeom>
              <a:avLst/>
              <a:gdLst/>
              <a:ahLst/>
              <a:cxnLst/>
              <a:rect l="l" t="t" r="r" b="b"/>
              <a:pathLst>
                <a:path w="11725910" h="326389">
                  <a:moveTo>
                    <a:pt x="0" y="326136"/>
                  </a:moveTo>
                  <a:lnTo>
                    <a:pt x="11725656" y="326136"/>
                  </a:lnTo>
                  <a:lnTo>
                    <a:pt x="11725656" y="0"/>
                  </a:lnTo>
                  <a:lnTo>
                    <a:pt x="0" y="0"/>
                  </a:lnTo>
                  <a:lnTo>
                    <a:pt x="0" y="326136"/>
                  </a:lnTo>
                  <a:close/>
                </a:path>
              </a:pathLst>
            </a:custGeom>
            <a:ln w="6096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536" y="2404872"/>
              <a:ext cx="11143488" cy="67208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06324" y="3275076"/>
            <a:ext cx="11732260" cy="807720"/>
            <a:chOff x="306324" y="3275076"/>
            <a:chExt cx="11732260" cy="807720"/>
          </a:xfrm>
        </p:grpSpPr>
        <p:sp>
          <p:nvSpPr>
            <p:cNvPr id="10" name="object 10"/>
            <p:cNvSpPr/>
            <p:nvPr/>
          </p:nvSpPr>
          <p:spPr>
            <a:xfrm>
              <a:off x="309372" y="3752088"/>
              <a:ext cx="11725910" cy="327660"/>
            </a:xfrm>
            <a:custGeom>
              <a:avLst/>
              <a:gdLst/>
              <a:ahLst/>
              <a:cxnLst/>
              <a:rect l="l" t="t" r="r" b="b"/>
              <a:pathLst>
                <a:path w="11725910" h="327660">
                  <a:moveTo>
                    <a:pt x="0" y="327660"/>
                  </a:moveTo>
                  <a:lnTo>
                    <a:pt x="11725656" y="327660"/>
                  </a:lnTo>
                  <a:lnTo>
                    <a:pt x="11725656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ln w="609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536" y="3275076"/>
              <a:ext cx="11143488" cy="672084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06324" y="4146803"/>
            <a:ext cx="11732260" cy="806450"/>
            <a:chOff x="306324" y="4146803"/>
            <a:chExt cx="11732260" cy="806450"/>
          </a:xfrm>
        </p:grpSpPr>
        <p:sp>
          <p:nvSpPr>
            <p:cNvPr id="13" name="object 13"/>
            <p:cNvSpPr/>
            <p:nvPr/>
          </p:nvSpPr>
          <p:spPr>
            <a:xfrm>
              <a:off x="309372" y="4622291"/>
              <a:ext cx="11725910" cy="327660"/>
            </a:xfrm>
            <a:custGeom>
              <a:avLst/>
              <a:gdLst/>
              <a:ahLst/>
              <a:cxnLst/>
              <a:rect l="l" t="t" r="r" b="b"/>
              <a:pathLst>
                <a:path w="11725910" h="327660">
                  <a:moveTo>
                    <a:pt x="0" y="327660"/>
                  </a:moveTo>
                  <a:lnTo>
                    <a:pt x="11725656" y="327660"/>
                  </a:lnTo>
                  <a:lnTo>
                    <a:pt x="11725656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536" y="4146803"/>
              <a:ext cx="11143488" cy="67208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06324" y="5017008"/>
            <a:ext cx="11732260" cy="807720"/>
            <a:chOff x="306324" y="5017008"/>
            <a:chExt cx="11732260" cy="807720"/>
          </a:xfrm>
        </p:grpSpPr>
        <p:sp>
          <p:nvSpPr>
            <p:cNvPr id="16" name="object 16"/>
            <p:cNvSpPr/>
            <p:nvPr/>
          </p:nvSpPr>
          <p:spPr>
            <a:xfrm>
              <a:off x="309372" y="5494020"/>
              <a:ext cx="11725910" cy="327660"/>
            </a:xfrm>
            <a:custGeom>
              <a:avLst/>
              <a:gdLst/>
              <a:ahLst/>
              <a:cxnLst/>
              <a:rect l="l" t="t" r="r" b="b"/>
              <a:pathLst>
                <a:path w="11725910" h="327660">
                  <a:moveTo>
                    <a:pt x="0" y="327659"/>
                  </a:moveTo>
                  <a:lnTo>
                    <a:pt x="11725656" y="327659"/>
                  </a:lnTo>
                  <a:lnTo>
                    <a:pt x="11725656" y="0"/>
                  </a:lnTo>
                  <a:lnTo>
                    <a:pt x="0" y="0"/>
                  </a:lnTo>
                  <a:lnTo>
                    <a:pt x="0" y="327659"/>
                  </a:lnTo>
                  <a:close/>
                </a:path>
              </a:pathLst>
            </a:custGeom>
            <a:ln w="6096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536" y="5017008"/>
              <a:ext cx="11143488" cy="67208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06324" y="5888735"/>
            <a:ext cx="11732260" cy="806450"/>
            <a:chOff x="306324" y="5888735"/>
            <a:chExt cx="11732260" cy="806450"/>
          </a:xfrm>
        </p:grpSpPr>
        <p:sp>
          <p:nvSpPr>
            <p:cNvPr id="19" name="object 19"/>
            <p:cNvSpPr/>
            <p:nvPr/>
          </p:nvSpPr>
          <p:spPr>
            <a:xfrm>
              <a:off x="309372" y="6364223"/>
              <a:ext cx="11725910" cy="327660"/>
            </a:xfrm>
            <a:custGeom>
              <a:avLst/>
              <a:gdLst/>
              <a:ahLst/>
              <a:cxnLst/>
              <a:rect l="l" t="t" r="r" b="b"/>
              <a:pathLst>
                <a:path w="11725910" h="327659">
                  <a:moveTo>
                    <a:pt x="0" y="327659"/>
                  </a:moveTo>
                  <a:lnTo>
                    <a:pt x="11725656" y="327659"/>
                  </a:lnTo>
                  <a:lnTo>
                    <a:pt x="11725656" y="0"/>
                  </a:lnTo>
                  <a:lnTo>
                    <a:pt x="0" y="0"/>
                  </a:lnTo>
                  <a:lnTo>
                    <a:pt x="0" y="327659"/>
                  </a:lnTo>
                  <a:close/>
                </a:path>
              </a:pathLst>
            </a:custGeom>
            <a:ln w="6096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536" y="5888735"/>
              <a:ext cx="11143488" cy="67208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13003" y="1470101"/>
            <a:ext cx="10424160" cy="491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60"/>
              </a:lnSpc>
              <a:spcBef>
                <a:spcPts val="100"/>
              </a:spcBef>
            </a:pPr>
            <a:r>
              <a:rPr sz="2400" b="1" i="1" spc="-15" dirty="0">
                <a:latin typeface="Calibri"/>
                <a:cs typeface="Calibri"/>
              </a:rPr>
              <a:t>Breakdown</a:t>
            </a:r>
            <a:r>
              <a:rPr sz="2400" b="1" i="1" spc="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losses</a:t>
            </a:r>
            <a:r>
              <a:rPr sz="2400" b="1" i="1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10" dirty="0">
                <a:latin typeface="Calibri"/>
                <a:cs typeface="Calibri"/>
              </a:rPr>
              <a:t> kerugian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breakdown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) </a:t>
            </a:r>
            <a:r>
              <a:rPr sz="2400" spc="-20" dirty="0">
                <a:latin typeface="Calibri"/>
                <a:cs typeface="Calibri"/>
              </a:rPr>
              <a:t>diantaranya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kerugian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waktu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(produktifitas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60"/>
              </a:lnSpc>
            </a:pPr>
            <a:r>
              <a:rPr sz="2400" spc="-5" dirty="0">
                <a:latin typeface="Calibri"/>
                <a:cs typeface="Calibri"/>
              </a:rPr>
              <a:t>menurun),</a:t>
            </a:r>
            <a:r>
              <a:rPr sz="2400" spc="-15" dirty="0">
                <a:latin typeface="Calibri"/>
                <a:cs typeface="Calibri"/>
              </a:rPr>
              <a:t> kerugian </a:t>
            </a:r>
            <a:r>
              <a:rPr sz="2400" spc="-5" dirty="0">
                <a:latin typeface="Calibri"/>
                <a:cs typeface="Calibri"/>
              </a:rPr>
              <a:t>jumlah </a:t>
            </a:r>
            <a:r>
              <a:rPr sz="2400" spc="-15" dirty="0">
                <a:latin typeface="Calibri"/>
                <a:cs typeface="Calibri"/>
              </a:rPr>
              <a:t>karena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cacat.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i="1" spc="-10" dirty="0">
                <a:latin typeface="Calibri"/>
                <a:cs typeface="Calibri"/>
              </a:rPr>
              <a:t>Setup</a:t>
            </a:r>
            <a:r>
              <a:rPr sz="2400" b="1" i="1" spc="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and </a:t>
            </a:r>
            <a:r>
              <a:rPr sz="2400" b="1" i="1" spc="-10" dirty="0">
                <a:latin typeface="Calibri"/>
                <a:cs typeface="Calibri"/>
              </a:rPr>
              <a:t>adjustment</a:t>
            </a:r>
            <a:r>
              <a:rPr sz="2400" b="1" i="1" spc="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losses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kerugian penyetelan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penyesuaian)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i="1" spc="-5" dirty="0">
                <a:latin typeface="Calibri"/>
                <a:cs typeface="Calibri"/>
              </a:rPr>
              <a:t>Idling</a:t>
            </a:r>
            <a:r>
              <a:rPr sz="2400" b="1" i="1" dirty="0">
                <a:latin typeface="Calibri"/>
                <a:cs typeface="Calibri"/>
              </a:rPr>
              <a:t> and</a:t>
            </a:r>
            <a:r>
              <a:rPr sz="2400" b="1" i="1" spc="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minor</a:t>
            </a:r>
            <a:r>
              <a:rPr sz="2400" b="1" i="1" spc="1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stoppage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losses</a:t>
            </a:r>
            <a:r>
              <a:rPr sz="2400" b="1" i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kerugian karena </a:t>
            </a:r>
            <a:r>
              <a:rPr sz="2400" dirty="0">
                <a:latin typeface="Calibri"/>
                <a:cs typeface="Calibri"/>
              </a:rPr>
              <a:t>idle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dan penghentian mesin)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i="1" spc="-15" dirty="0">
                <a:latin typeface="Calibri"/>
                <a:cs typeface="Calibri"/>
              </a:rPr>
              <a:t>Reduced</a:t>
            </a:r>
            <a:r>
              <a:rPr sz="2400" b="1" i="1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speed</a:t>
            </a:r>
            <a:r>
              <a:rPr sz="2400" b="1" i="1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losses</a:t>
            </a:r>
            <a:r>
              <a:rPr sz="2400" b="1" i="1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 </a:t>
            </a:r>
            <a:r>
              <a:rPr sz="2400" spc="-15" dirty="0">
                <a:latin typeface="Calibri"/>
                <a:cs typeface="Calibri"/>
              </a:rPr>
              <a:t>kerugian karena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kecepatan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operasi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rendah)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Calibri"/>
              <a:cs typeface="Calibri"/>
            </a:endParaRPr>
          </a:p>
          <a:p>
            <a:pPr marL="12700" marR="721995">
              <a:lnSpc>
                <a:spcPts val="2640"/>
              </a:lnSpc>
            </a:pPr>
            <a:r>
              <a:rPr sz="2400" b="1" i="1" spc="-5" dirty="0">
                <a:latin typeface="Calibri"/>
                <a:cs typeface="Calibri"/>
              </a:rPr>
              <a:t>Quality</a:t>
            </a:r>
            <a:r>
              <a:rPr sz="2400" b="1" i="1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defect</a:t>
            </a:r>
            <a:r>
              <a:rPr sz="2400" b="1" i="1" dirty="0">
                <a:latin typeface="Calibri"/>
                <a:cs typeface="Calibri"/>
              </a:rPr>
              <a:t> and </a:t>
            </a:r>
            <a:r>
              <a:rPr sz="2400" b="1" i="1" spc="-10" dirty="0">
                <a:latin typeface="Calibri"/>
                <a:cs typeface="Calibri"/>
              </a:rPr>
              <a:t>rework</a:t>
            </a:r>
            <a:r>
              <a:rPr sz="2400" b="1" i="1" spc="1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losses</a:t>
            </a:r>
            <a:r>
              <a:rPr sz="2400" b="1" i="1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 </a:t>
            </a:r>
            <a:r>
              <a:rPr sz="2400" spc="-10" dirty="0">
                <a:latin typeface="Calibri"/>
                <a:cs typeface="Calibri"/>
              </a:rPr>
              <a:t>kerigian karena </a:t>
            </a:r>
            <a:r>
              <a:rPr sz="2400" spc="-15" dirty="0">
                <a:latin typeface="Calibri"/>
                <a:cs typeface="Calibri"/>
              </a:rPr>
              <a:t>cacat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mutu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dan pengerjaan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ulang)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i="1" spc="-10" dirty="0">
                <a:latin typeface="Calibri"/>
                <a:cs typeface="Calibri"/>
              </a:rPr>
              <a:t>Startup</a:t>
            </a:r>
            <a:r>
              <a:rPr sz="2400" b="1" i="1" spc="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losses</a:t>
            </a:r>
            <a:r>
              <a:rPr sz="2400" b="1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 </a:t>
            </a:r>
            <a:r>
              <a:rPr sz="2400" spc="-15" dirty="0">
                <a:latin typeface="Calibri"/>
                <a:cs typeface="Calibri"/>
              </a:rPr>
              <a:t>kerugian </a:t>
            </a:r>
            <a:r>
              <a:rPr sz="2400" spc="-10" dirty="0">
                <a:latin typeface="Calibri"/>
                <a:cs typeface="Calibri"/>
              </a:rPr>
              <a:t>yang</a:t>
            </a:r>
            <a:r>
              <a:rPr sz="2400" spc="-5" dirty="0">
                <a:latin typeface="Calibri"/>
                <a:cs typeface="Calibri"/>
              </a:rPr>
              <a:t> terjadi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saat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startup </a:t>
            </a:r>
            <a:r>
              <a:rPr sz="240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0363200" cy="677108"/>
          </a:xfrm>
        </p:spPr>
        <p:txBody>
          <a:bodyPr/>
          <a:lstStyle/>
          <a:p>
            <a:r>
              <a:rPr lang="id-ID" dirty="0" smtClean="0"/>
              <a:t>Contoh Soal !!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12192000" cy="5638800"/>
          </a:xfrm>
        </p:spPr>
        <p:txBody>
          <a:bodyPr>
            <a:noAutofit/>
          </a:bodyPr>
          <a:lstStyle/>
          <a:p>
            <a:pPr lvl="0"/>
            <a:r>
              <a:rPr lang="id-ID" sz="1400" b="0" dirty="0" smtClean="0">
                <a:solidFill>
                  <a:schemeClr val="tx1"/>
                </a:solidFill>
              </a:rPr>
              <a:t>Dari </a:t>
            </a:r>
            <a:r>
              <a:rPr lang="id-ID" sz="1400" b="0" dirty="0">
                <a:solidFill>
                  <a:schemeClr val="tx1"/>
                </a:solidFill>
              </a:rPr>
              <a:t>hasil pengamatan pada mesin rolling PT. Sumber rezeki pada bulan Januari adalah sebagai berikut:</a:t>
            </a:r>
            <a:endParaRPr lang="en-US" sz="1400" b="0" dirty="0">
              <a:solidFill>
                <a:schemeClr val="tx1"/>
              </a:solidFill>
            </a:endParaRPr>
          </a:p>
          <a:p>
            <a:r>
              <a:rPr lang="id-ID" sz="1400" b="0" dirty="0">
                <a:solidFill>
                  <a:schemeClr val="tx1"/>
                </a:solidFill>
              </a:rPr>
              <a:t>Waktu kerusakan (</a:t>
            </a:r>
            <a:r>
              <a:rPr lang="id-ID" sz="1400" b="0" i="1" dirty="0">
                <a:solidFill>
                  <a:schemeClr val="tx1"/>
                </a:solidFill>
              </a:rPr>
              <a:t>breakdowns</a:t>
            </a:r>
            <a:r>
              <a:rPr lang="id-ID" sz="1400" b="0" dirty="0">
                <a:solidFill>
                  <a:schemeClr val="tx1"/>
                </a:solidFill>
              </a:rPr>
              <a:t>)		</a:t>
            </a:r>
            <a:r>
              <a:rPr lang="id-ID" sz="1400" b="0" dirty="0" smtClean="0">
                <a:solidFill>
                  <a:schemeClr val="tx1"/>
                </a:solidFill>
              </a:rPr>
              <a:t>= </a:t>
            </a:r>
            <a:r>
              <a:rPr lang="id-ID" sz="1400" b="0" dirty="0">
                <a:solidFill>
                  <a:schemeClr val="tx1"/>
                </a:solidFill>
              </a:rPr>
              <a:t>4,25 Jam</a:t>
            </a:r>
            <a:endParaRPr lang="en-US" sz="1400" b="0" dirty="0">
              <a:solidFill>
                <a:schemeClr val="tx1"/>
              </a:solidFill>
            </a:endParaRPr>
          </a:p>
          <a:p>
            <a:r>
              <a:rPr lang="id-ID" sz="1400" b="0" dirty="0">
                <a:solidFill>
                  <a:schemeClr val="tx1"/>
                </a:solidFill>
              </a:rPr>
              <a:t>Waktu pemeliharaan (</a:t>
            </a:r>
            <a:r>
              <a:rPr lang="id-ID" sz="1400" b="0" i="1" dirty="0">
                <a:solidFill>
                  <a:schemeClr val="tx1"/>
                </a:solidFill>
              </a:rPr>
              <a:t>planned</a:t>
            </a:r>
            <a:r>
              <a:rPr lang="id-ID" sz="1400" b="0" dirty="0">
                <a:solidFill>
                  <a:schemeClr val="tx1"/>
                </a:solidFill>
              </a:rPr>
              <a:t> </a:t>
            </a:r>
            <a:r>
              <a:rPr lang="id-ID" sz="1400" b="0" i="1" dirty="0">
                <a:solidFill>
                  <a:schemeClr val="tx1"/>
                </a:solidFill>
              </a:rPr>
              <a:t>downtime</a:t>
            </a:r>
            <a:r>
              <a:rPr lang="id-ID" sz="1400" b="0" dirty="0">
                <a:solidFill>
                  <a:schemeClr val="tx1"/>
                </a:solidFill>
              </a:rPr>
              <a:t>)	</a:t>
            </a:r>
            <a:r>
              <a:rPr lang="id-ID" sz="1400" b="0" dirty="0" smtClean="0">
                <a:solidFill>
                  <a:schemeClr val="tx1"/>
                </a:solidFill>
              </a:rPr>
              <a:t>= </a:t>
            </a:r>
            <a:r>
              <a:rPr lang="id-ID" sz="1400" b="0" dirty="0">
                <a:solidFill>
                  <a:schemeClr val="tx1"/>
                </a:solidFill>
              </a:rPr>
              <a:t>43,42 Jam</a:t>
            </a:r>
            <a:endParaRPr lang="en-US" sz="1400" b="0" dirty="0">
              <a:solidFill>
                <a:schemeClr val="tx1"/>
              </a:solidFill>
            </a:endParaRPr>
          </a:p>
          <a:p>
            <a:r>
              <a:rPr lang="id-ID" sz="1400" b="0" dirty="0">
                <a:solidFill>
                  <a:schemeClr val="tx1"/>
                </a:solidFill>
              </a:rPr>
              <a:t>Waktu </a:t>
            </a:r>
            <a:r>
              <a:rPr lang="id-ID" sz="1400" b="0" i="1" dirty="0">
                <a:solidFill>
                  <a:schemeClr val="tx1"/>
                </a:solidFill>
              </a:rPr>
              <a:t>Set</a:t>
            </a:r>
            <a:r>
              <a:rPr lang="id-ID" sz="1400" b="0" dirty="0">
                <a:solidFill>
                  <a:schemeClr val="tx1"/>
                </a:solidFill>
              </a:rPr>
              <a:t>-</a:t>
            </a:r>
            <a:r>
              <a:rPr lang="id-ID" sz="1400" b="0" i="1" dirty="0">
                <a:solidFill>
                  <a:schemeClr val="tx1"/>
                </a:solidFill>
              </a:rPr>
              <a:t>up</a:t>
            </a:r>
            <a:r>
              <a:rPr lang="id-ID" sz="1400" b="0" dirty="0">
                <a:solidFill>
                  <a:schemeClr val="tx1"/>
                </a:solidFill>
              </a:rPr>
              <a:t>			</a:t>
            </a:r>
            <a:r>
              <a:rPr lang="id-ID" sz="1400" b="0" dirty="0" smtClean="0">
                <a:solidFill>
                  <a:schemeClr val="tx1"/>
                </a:solidFill>
              </a:rPr>
              <a:t>= </a:t>
            </a:r>
            <a:r>
              <a:rPr lang="id-ID" sz="1400" b="0" dirty="0">
                <a:solidFill>
                  <a:schemeClr val="tx1"/>
                </a:solidFill>
              </a:rPr>
              <a:t>5,99 Jam</a:t>
            </a:r>
            <a:endParaRPr lang="en-US" sz="1400" b="0" dirty="0">
              <a:solidFill>
                <a:schemeClr val="tx1"/>
              </a:solidFill>
            </a:endParaRPr>
          </a:p>
          <a:p>
            <a:r>
              <a:rPr lang="id-ID" sz="1400" b="0" i="1" dirty="0">
                <a:solidFill>
                  <a:schemeClr val="tx1"/>
                </a:solidFill>
              </a:rPr>
              <a:t>Total</a:t>
            </a:r>
            <a:r>
              <a:rPr lang="id-ID" sz="1400" b="0" dirty="0">
                <a:solidFill>
                  <a:schemeClr val="tx1"/>
                </a:solidFill>
              </a:rPr>
              <a:t> </a:t>
            </a:r>
            <a:r>
              <a:rPr lang="id-ID" sz="1400" b="0" i="1" dirty="0">
                <a:solidFill>
                  <a:schemeClr val="tx1"/>
                </a:solidFill>
              </a:rPr>
              <a:t>Available</a:t>
            </a:r>
            <a:r>
              <a:rPr lang="id-ID" sz="1400" b="0" dirty="0">
                <a:solidFill>
                  <a:schemeClr val="tx1"/>
                </a:solidFill>
              </a:rPr>
              <a:t> </a:t>
            </a:r>
            <a:r>
              <a:rPr lang="id-ID" sz="1400" b="0" i="1" dirty="0">
                <a:solidFill>
                  <a:schemeClr val="tx1"/>
                </a:solidFill>
              </a:rPr>
              <a:t>Time</a:t>
            </a:r>
            <a:r>
              <a:rPr lang="id-ID" sz="1400" b="0" dirty="0">
                <a:solidFill>
                  <a:schemeClr val="tx1"/>
                </a:solidFill>
              </a:rPr>
              <a:t>			</a:t>
            </a:r>
            <a:r>
              <a:rPr lang="id-ID" sz="1400" b="0" dirty="0" smtClean="0">
                <a:solidFill>
                  <a:schemeClr val="tx1"/>
                </a:solidFill>
              </a:rPr>
              <a:t>= </a:t>
            </a:r>
            <a:r>
              <a:rPr lang="id-ID" sz="1400" b="0" dirty="0">
                <a:solidFill>
                  <a:schemeClr val="tx1"/>
                </a:solidFill>
              </a:rPr>
              <a:t>720 Jam</a:t>
            </a:r>
            <a:endParaRPr lang="en-US" sz="1400" b="0" dirty="0">
              <a:solidFill>
                <a:schemeClr val="tx1"/>
              </a:solidFill>
            </a:endParaRPr>
          </a:p>
          <a:p>
            <a:r>
              <a:rPr lang="id-ID" sz="1400" b="0" dirty="0">
                <a:solidFill>
                  <a:schemeClr val="tx1"/>
                </a:solidFill>
              </a:rPr>
              <a:t>Total produk cacat (</a:t>
            </a:r>
            <a:r>
              <a:rPr lang="id-ID" sz="1400" b="0" i="1" dirty="0">
                <a:solidFill>
                  <a:schemeClr val="tx1"/>
                </a:solidFill>
              </a:rPr>
              <a:t>Total</a:t>
            </a:r>
            <a:r>
              <a:rPr lang="id-ID" sz="1400" b="0" dirty="0">
                <a:solidFill>
                  <a:schemeClr val="tx1"/>
                </a:solidFill>
              </a:rPr>
              <a:t> </a:t>
            </a:r>
            <a:r>
              <a:rPr lang="id-ID" sz="1400" b="0" i="1" dirty="0">
                <a:solidFill>
                  <a:schemeClr val="tx1"/>
                </a:solidFill>
              </a:rPr>
              <a:t>reject</a:t>
            </a:r>
            <a:r>
              <a:rPr lang="id-ID" sz="1400" b="0" dirty="0">
                <a:solidFill>
                  <a:schemeClr val="tx1"/>
                </a:solidFill>
              </a:rPr>
              <a:t> </a:t>
            </a:r>
            <a:r>
              <a:rPr lang="id-ID" sz="1400" b="0" i="1" dirty="0">
                <a:solidFill>
                  <a:schemeClr val="tx1"/>
                </a:solidFill>
              </a:rPr>
              <a:t>product</a:t>
            </a:r>
            <a:r>
              <a:rPr lang="id-ID" sz="1400" b="0" dirty="0">
                <a:solidFill>
                  <a:schemeClr val="tx1"/>
                </a:solidFill>
              </a:rPr>
              <a:t>)	</a:t>
            </a:r>
            <a:r>
              <a:rPr lang="id-ID" sz="1400" b="0" dirty="0" smtClean="0">
                <a:solidFill>
                  <a:schemeClr val="tx1"/>
                </a:solidFill>
              </a:rPr>
              <a:t>= </a:t>
            </a:r>
            <a:r>
              <a:rPr lang="id-ID" sz="1400" b="0" dirty="0">
                <a:solidFill>
                  <a:schemeClr val="tx1"/>
                </a:solidFill>
              </a:rPr>
              <a:t>32,36 Ton</a:t>
            </a:r>
            <a:endParaRPr lang="en-US" sz="1400" b="0" dirty="0">
              <a:solidFill>
                <a:schemeClr val="tx1"/>
              </a:solidFill>
            </a:endParaRPr>
          </a:p>
          <a:p>
            <a:r>
              <a:rPr lang="id-ID" sz="1400" b="0" dirty="0">
                <a:solidFill>
                  <a:schemeClr val="tx1"/>
                </a:solidFill>
              </a:rPr>
              <a:t>Total jumlah produk (</a:t>
            </a:r>
            <a:r>
              <a:rPr lang="id-ID" sz="1400" b="0" i="1" dirty="0">
                <a:solidFill>
                  <a:schemeClr val="tx1"/>
                </a:solidFill>
              </a:rPr>
              <a:t>Total</a:t>
            </a:r>
            <a:r>
              <a:rPr lang="id-ID" sz="1400" b="0" dirty="0">
                <a:solidFill>
                  <a:schemeClr val="tx1"/>
                </a:solidFill>
              </a:rPr>
              <a:t> </a:t>
            </a:r>
            <a:r>
              <a:rPr lang="id-ID" sz="1400" b="0" i="1" dirty="0">
                <a:solidFill>
                  <a:schemeClr val="tx1"/>
                </a:solidFill>
              </a:rPr>
              <a:t>good</a:t>
            </a:r>
            <a:r>
              <a:rPr lang="id-ID" sz="1400" b="0" dirty="0">
                <a:solidFill>
                  <a:schemeClr val="tx1"/>
                </a:solidFill>
              </a:rPr>
              <a:t> </a:t>
            </a:r>
            <a:r>
              <a:rPr lang="id-ID" sz="1400" b="0" i="1" dirty="0">
                <a:solidFill>
                  <a:schemeClr val="tx1"/>
                </a:solidFill>
              </a:rPr>
              <a:t>product</a:t>
            </a:r>
            <a:r>
              <a:rPr lang="id-ID" sz="1400" b="0" dirty="0">
                <a:solidFill>
                  <a:schemeClr val="tx1"/>
                </a:solidFill>
              </a:rPr>
              <a:t>)	</a:t>
            </a:r>
            <a:r>
              <a:rPr lang="id-ID" sz="1400" b="0" dirty="0" smtClean="0">
                <a:solidFill>
                  <a:schemeClr val="tx1"/>
                </a:solidFill>
              </a:rPr>
              <a:t>= </a:t>
            </a:r>
            <a:r>
              <a:rPr lang="id-ID" sz="1400" b="0" dirty="0">
                <a:solidFill>
                  <a:schemeClr val="tx1"/>
                </a:solidFill>
              </a:rPr>
              <a:t>1078,62 Ton</a:t>
            </a:r>
            <a:endParaRPr lang="en-US" sz="1400" b="0" dirty="0">
              <a:solidFill>
                <a:schemeClr val="tx1"/>
              </a:solidFill>
            </a:endParaRPr>
          </a:p>
          <a:p>
            <a:r>
              <a:rPr lang="id-ID" sz="1400" b="0" dirty="0">
                <a:solidFill>
                  <a:schemeClr val="tx1"/>
                </a:solidFill>
              </a:rPr>
              <a:t>Berdasarkan keterangan soal berikut, Hitunglah :</a:t>
            </a:r>
            <a:endParaRPr lang="en-US" sz="1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Dari </a:t>
            </a:r>
            <a:r>
              <a:rPr lang="id-ID" sz="1400" b="0" dirty="0" smtClean="0">
                <a:solidFill>
                  <a:schemeClr val="tx1"/>
                </a:solidFill>
              </a:rPr>
              <a:t>Keterangan soal dibawah, Hitunglah :</a:t>
            </a: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1 Availability ( rasio waktu operation time terhadap loading time-nya)</a:t>
            </a: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2. Performance Efficiency ( rasio kuantitas produk yang dihasilkan dikalikan dengan waktu siklus idealnya terhadap waktu yang tersedia untuk melakukan proses produksi).</a:t>
            </a:r>
          </a:p>
          <a:p>
            <a:r>
              <a:rPr lang="id-ID" sz="1400" b="0" dirty="0" smtClean="0">
                <a:solidFill>
                  <a:schemeClr val="tx1"/>
                </a:solidFill>
              </a:rPr>
              <a:t>Diketahui : Waktu Optimal mesin dalam </a:t>
            </a:r>
            <a:r>
              <a:rPr lang="id-ID" sz="1400" b="0" dirty="0">
                <a:solidFill>
                  <a:schemeClr val="tx1"/>
                </a:solidFill>
              </a:rPr>
              <a:t>Waktu optimal mesin diketahui dalam waktu 1 hari menghasilkan 42,31 Ton</a:t>
            </a:r>
            <a:r>
              <a:rPr lang="id-ID" sz="1400" b="0" dirty="0" smtClean="0">
                <a:solidFill>
                  <a:schemeClr val="tx1"/>
                </a:solidFill>
              </a:rPr>
              <a:t>.</a:t>
            </a:r>
            <a:endParaRPr lang="id-ID" sz="1400" b="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3. Rate </a:t>
            </a:r>
            <a:r>
              <a:rPr lang="id-ID" sz="1400" b="0" dirty="0">
                <a:solidFill>
                  <a:schemeClr val="tx1"/>
                </a:solidFill>
              </a:rPr>
              <a:t>Quantity </a:t>
            </a:r>
            <a:r>
              <a:rPr lang="id-ID" sz="1400" b="0" dirty="0" smtClean="0">
                <a:solidFill>
                  <a:schemeClr val="tx1"/>
                </a:solidFill>
              </a:rPr>
              <a:t>Product ( rasio produk yang baik yang sesuai dengan spesifikasi kualitas produk yang telah ditentukan terhadap jumlah produk yang diproses)</a:t>
            </a: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4. Overall </a:t>
            </a:r>
            <a:r>
              <a:rPr lang="id-ID" sz="1400" b="0" dirty="0">
                <a:solidFill>
                  <a:schemeClr val="tx1"/>
                </a:solidFill>
              </a:rPr>
              <a:t>Equipment Effectiveness (OEE</a:t>
            </a:r>
            <a:r>
              <a:rPr lang="id-ID" sz="1400" b="0" dirty="0" smtClean="0">
                <a:solidFill>
                  <a:schemeClr val="tx1"/>
                </a:solidFill>
              </a:rPr>
              <a:t>) (untuk mengetahui besarnya efektivitas penggunaan mesin)</a:t>
            </a: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5. Six </a:t>
            </a:r>
            <a:r>
              <a:rPr lang="id-ID" sz="1400" b="0" dirty="0">
                <a:solidFill>
                  <a:schemeClr val="tx1"/>
                </a:solidFill>
              </a:rPr>
              <a:t>Big Losses (Enam Kerugian Besar) </a:t>
            </a:r>
            <a:r>
              <a:rPr lang="id-ID" sz="1400" b="0" dirty="0" smtClean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A. </a:t>
            </a:r>
            <a:r>
              <a:rPr lang="id-ID" sz="1400" b="0" dirty="0">
                <a:solidFill>
                  <a:schemeClr val="tx1"/>
                </a:solidFill>
              </a:rPr>
              <a:t>Downtime (Penurunan Waktu)</a:t>
            </a:r>
          </a:p>
          <a:p>
            <a:r>
              <a:rPr lang="en-US" sz="1400" b="0" dirty="0" smtClean="0">
                <a:solidFill>
                  <a:schemeClr val="tx1"/>
                </a:solidFill>
              </a:rPr>
              <a:t>	</a:t>
            </a:r>
            <a:r>
              <a:rPr lang="id-ID" sz="1400" b="0" dirty="0" smtClean="0">
                <a:solidFill>
                  <a:schemeClr val="tx1"/>
                </a:solidFill>
              </a:rPr>
              <a:t>Equipment </a:t>
            </a:r>
            <a:r>
              <a:rPr lang="id-ID" sz="1400" b="0" dirty="0">
                <a:solidFill>
                  <a:schemeClr val="tx1"/>
                </a:solidFill>
              </a:rPr>
              <a:t>failur/Breakdowns (Kerugian karena kerusakan peralatan)</a:t>
            </a:r>
          </a:p>
          <a:p>
            <a:r>
              <a:rPr lang="en-US" sz="1400" b="0" dirty="0" smtClean="0">
                <a:solidFill>
                  <a:schemeClr val="tx1"/>
                </a:solidFill>
              </a:rPr>
              <a:t>	</a:t>
            </a:r>
            <a:r>
              <a:rPr lang="id-ID" sz="1400" b="0" dirty="0" smtClean="0">
                <a:solidFill>
                  <a:schemeClr val="tx1"/>
                </a:solidFill>
              </a:rPr>
              <a:t>Set-up </a:t>
            </a:r>
            <a:r>
              <a:rPr lang="id-ID" sz="1400" b="0" dirty="0">
                <a:solidFill>
                  <a:schemeClr val="tx1"/>
                </a:solidFill>
              </a:rPr>
              <a:t>and adjustment (kerugian karena pemasangan dan penyetelan).</a:t>
            </a: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B. </a:t>
            </a:r>
            <a:r>
              <a:rPr lang="id-ID" sz="1400" b="0" dirty="0">
                <a:solidFill>
                  <a:schemeClr val="tx1"/>
                </a:solidFill>
              </a:rPr>
              <a:t>Speed Losses (Penurunan Kecepatan)</a:t>
            </a:r>
          </a:p>
          <a:p>
            <a:r>
              <a:rPr lang="en-US" sz="1400" b="0" dirty="0" smtClean="0">
                <a:solidFill>
                  <a:schemeClr val="tx1"/>
                </a:solidFill>
              </a:rPr>
              <a:t>	</a:t>
            </a:r>
            <a:r>
              <a:rPr lang="id-ID" sz="1400" b="0" dirty="0" smtClean="0">
                <a:solidFill>
                  <a:schemeClr val="tx1"/>
                </a:solidFill>
              </a:rPr>
              <a:t>Idling </a:t>
            </a:r>
            <a:r>
              <a:rPr lang="id-ID" sz="1400" b="0" dirty="0">
                <a:solidFill>
                  <a:schemeClr val="tx1"/>
                </a:solidFill>
              </a:rPr>
              <a:t>and minor stoppages ( Kerugian karena beroperasi tanpa beban maupun berhenti </a:t>
            </a:r>
            <a:r>
              <a:rPr lang="id-ID" sz="1400" b="0" dirty="0" smtClean="0">
                <a:solidFill>
                  <a:schemeClr val="tx1"/>
                </a:solidFill>
              </a:rPr>
              <a:t>sesaat atau mesin beeroperasi tanpa menghasilkan produk)</a:t>
            </a:r>
            <a:endParaRPr lang="id-ID" sz="1400" b="0" dirty="0">
              <a:solidFill>
                <a:schemeClr val="tx1"/>
              </a:solidFill>
            </a:endParaRPr>
          </a:p>
          <a:p>
            <a:r>
              <a:rPr lang="en-US" sz="1400" b="0" dirty="0" smtClean="0">
                <a:solidFill>
                  <a:schemeClr val="tx1"/>
                </a:solidFill>
              </a:rPr>
              <a:t>	</a:t>
            </a:r>
            <a:r>
              <a:rPr lang="id-ID" sz="1400" b="0" dirty="0" smtClean="0">
                <a:solidFill>
                  <a:schemeClr val="tx1"/>
                </a:solidFill>
              </a:rPr>
              <a:t>Reduced </a:t>
            </a:r>
            <a:r>
              <a:rPr lang="id-ID" sz="1400" b="0" dirty="0">
                <a:solidFill>
                  <a:schemeClr val="tx1"/>
                </a:solidFill>
              </a:rPr>
              <a:t>speed ( Kerugian karena penurunan kecepatan produksi)</a:t>
            </a: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C. </a:t>
            </a:r>
            <a:r>
              <a:rPr lang="id-ID" sz="1400" b="0" dirty="0">
                <a:solidFill>
                  <a:schemeClr val="tx1"/>
                </a:solidFill>
              </a:rPr>
              <a:t>Defects (Cacat)</a:t>
            </a:r>
          </a:p>
          <a:p>
            <a:r>
              <a:rPr lang="en-US" sz="1400" b="0" dirty="0" smtClean="0">
                <a:solidFill>
                  <a:schemeClr val="tx1"/>
                </a:solidFill>
              </a:rPr>
              <a:t>	</a:t>
            </a:r>
            <a:r>
              <a:rPr lang="id-ID" sz="1400" b="0" dirty="0" smtClean="0">
                <a:solidFill>
                  <a:schemeClr val="tx1"/>
                </a:solidFill>
              </a:rPr>
              <a:t>Process </a:t>
            </a:r>
            <a:r>
              <a:rPr lang="id-ID" sz="1400" b="0" dirty="0">
                <a:solidFill>
                  <a:schemeClr val="tx1"/>
                </a:solidFill>
              </a:rPr>
              <a:t>Defect(Kerugian karena produk cacat maupun karena kerja produk diproses ulang.</a:t>
            </a:r>
          </a:p>
          <a:p>
            <a:r>
              <a:rPr lang="en-US" sz="1400" b="0" dirty="0" smtClean="0">
                <a:solidFill>
                  <a:schemeClr val="tx1"/>
                </a:solidFill>
              </a:rPr>
              <a:t>	</a:t>
            </a:r>
            <a:r>
              <a:rPr lang="id-ID" sz="1400" b="0" dirty="0" smtClean="0">
                <a:solidFill>
                  <a:schemeClr val="tx1"/>
                </a:solidFill>
              </a:rPr>
              <a:t>Reduced </a:t>
            </a:r>
            <a:r>
              <a:rPr lang="id-ID" sz="1400" b="0" dirty="0">
                <a:solidFill>
                  <a:schemeClr val="tx1"/>
                </a:solidFill>
              </a:rPr>
              <a:t>yieled losses ( Kerugian pada awal waktu produksi hingga mencapai waktu produksi yang stabil</a:t>
            </a:r>
            <a:r>
              <a:rPr lang="id-ID" sz="1400" b="0" dirty="0" smtClean="0">
                <a:solidFill>
                  <a:schemeClr val="tx1"/>
                </a:solidFill>
              </a:rPr>
              <a:t>).</a:t>
            </a:r>
          </a:p>
          <a:p>
            <a:pPr marL="0" indent="0">
              <a:buNone/>
            </a:pPr>
            <a:r>
              <a:rPr lang="id-ID" sz="1400" b="0" dirty="0" smtClean="0">
                <a:solidFill>
                  <a:schemeClr val="tx1"/>
                </a:solidFill>
              </a:rPr>
              <a:t>6. Buatlah diagram sebab akibat</a:t>
            </a:r>
            <a:endParaRPr lang="id-ID" sz="1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id-ID" sz="1400" b="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id-ID" sz="1400" b="0" dirty="0" smtClean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id-ID" sz="1400" b="0" dirty="0" smtClean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id-ID" sz="1400" b="0" dirty="0" smtClean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id-ID" sz="1400" b="0" dirty="0" smtClean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endParaRPr lang="id-ID" sz="1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38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1189</Words>
  <Application>Microsoft Office PowerPoint</Application>
  <PresentationFormat>Custom</PresentationFormat>
  <Paragraphs>178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Total Productive Maintenance</vt:lpstr>
      <vt:lpstr>Perkembangan TPM</vt:lpstr>
      <vt:lpstr>Konsep TPM</vt:lpstr>
      <vt:lpstr>Prinsip-prinsip TPM</vt:lpstr>
      <vt:lpstr>Budaya Kerja 5S / 5P / 5R</vt:lpstr>
      <vt:lpstr>Pilar Utama TPM</vt:lpstr>
      <vt:lpstr>PowerPoint Presentation</vt:lpstr>
      <vt:lpstr>Overall Equipment Effectiveness</vt:lpstr>
      <vt:lpstr>Analisa Produktivitas / Six Big Losses (Enam Kerugian Besar) :</vt:lpstr>
      <vt:lpstr>Overall Equipment Effectiveness (OEE)</vt:lpstr>
      <vt:lpstr>Formula Overall Equipment Effectiveness (OEE)</vt:lpstr>
      <vt:lpstr>PowerPoint Presentation</vt:lpstr>
      <vt:lpstr>PowerPoint Presentation</vt:lpstr>
      <vt:lpstr>PowerPoint Presentation</vt:lpstr>
      <vt:lpstr>Kerugian yang Dihindari</vt:lpstr>
      <vt:lpstr>Contoh Soal 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ICT</cp:lastModifiedBy>
  <cp:revision>4</cp:revision>
  <dcterms:created xsi:type="dcterms:W3CDTF">2021-11-20T00:50:47Z</dcterms:created>
  <dcterms:modified xsi:type="dcterms:W3CDTF">2025-11-20T09:15:15Z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2017-10-04T00:00:00Z</vt:filetime>
  </property>
  <property fmtid="{D5CDD505-2E9C-101B-9397-08002B2CF9AE}" pid="3" name="LastSaved">
    <vt:filetime>2021-11-20T00:00:00Z</vt:filetime>
  </property>
</Properties>
</file>